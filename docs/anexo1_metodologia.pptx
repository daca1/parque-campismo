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9" r:id="rId1"/>
  </p:sldMasterIdLst>
  <p:notesMasterIdLst>
    <p:notesMasterId r:id="rId28"/>
  </p:notesMasterIdLst>
  <p:handoutMasterIdLst>
    <p:handoutMasterId r:id="rId29"/>
  </p:handoutMasterIdLst>
  <p:sldIdLst>
    <p:sldId id="340" r:id="rId2"/>
    <p:sldId id="704" r:id="rId3"/>
    <p:sldId id="668" r:id="rId4"/>
    <p:sldId id="705" r:id="rId5"/>
    <p:sldId id="775" r:id="rId6"/>
    <p:sldId id="776" r:id="rId7"/>
    <p:sldId id="777" r:id="rId8"/>
    <p:sldId id="781" r:id="rId9"/>
    <p:sldId id="778" r:id="rId10"/>
    <p:sldId id="779" r:id="rId11"/>
    <p:sldId id="780" r:id="rId12"/>
    <p:sldId id="782" r:id="rId13"/>
    <p:sldId id="783" r:id="rId14"/>
    <p:sldId id="785" r:id="rId15"/>
    <p:sldId id="784" r:id="rId16"/>
    <p:sldId id="786" r:id="rId17"/>
    <p:sldId id="802" r:id="rId18"/>
    <p:sldId id="803" r:id="rId19"/>
    <p:sldId id="787" r:id="rId20"/>
    <p:sldId id="788" r:id="rId21"/>
    <p:sldId id="789" r:id="rId22"/>
    <p:sldId id="790" r:id="rId23"/>
    <p:sldId id="791" r:id="rId24"/>
    <p:sldId id="792" r:id="rId25"/>
    <p:sldId id="793" r:id="rId26"/>
    <p:sldId id="801" r:id="rId27"/>
  </p:sldIdLst>
  <p:sldSz cx="9144000" cy="6858000" type="screen4x3"/>
  <p:notesSz cx="7099300" cy="10234613"/>
  <p:defaultTextStyle>
    <a:defPPr>
      <a:defRPr lang="pt-P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3366CC"/>
    <a:srgbClr val="6498FF"/>
    <a:srgbClr val="5087DA"/>
    <a:srgbClr val="5382FF"/>
    <a:srgbClr val="37BCFF"/>
    <a:srgbClr val="3399FF"/>
    <a:srgbClr val="00CCFF"/>
    <a:srgbClr val="339966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76" autoAdjust="0"/>
    <p:restoredTop sz="94545" autoAdjust="0"/>
  </p:normalViewPr>
  <p:slideViewPr>
    <p:cSldViewPr>
      <p:cViewPr varScale="1">
        <p:scale>
          <a:sx n="109" d="100"/>
          <a:sy n="109" d="100"/>
        </p:scale>
        <p:origin x="1566" y="102"/>
      </p:cViewPr>
      <p:guideLst>
        <p:guide orient="horz" pos="66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-3954" y="-102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11CCDF0D-9BCE-4DE2-BDD8-4DB2D5A5B29D}" type="datetimeFigureOut">
              <a:rPr lang="pt-PT"/>
              <a:pPr>
                <a:defRPr/>
              </a:pPr>
              <a:t>24/04/2020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AB72AAF4-A22F-4554-8AE8-4810FF28B5C7}" type="slidenum">
              <a:rPr lang="pt-PT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993736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noProof="0"/>
              <a:t>Clique para editar os estilos de texto do modelo global</a:t>
            </a:r>
          </a:p>
          <a:p>
            <a:pPr lvl="1"/>
            <a:r>
              <a:rPr lang="pt-PT" noProof="0"/>
              <a:t>Segundo nível</a:t>
            </a:r>
          </a:p>
          <a:p>
            <a:pPr lvl="2"/>
            <a:r>
              <a:rPr lang="pt-PT" noProof="0"/>
              <a:t>Terceiro nível</a:t>
            </a:r>
          </a:p>
          <a:p>
            <a:pPr lvl="3"/>
            <a:r>
              <a:rPr lang="pt-PT" noProof="0"/>
              <a:t>Quarto nível</a:t>
            </a:r>
          </a:p>
          <a:p>
            <a:pPr lvl="4"/>
            <a:r>
              <a:rPr lang="pt-PT" noProof="0"/>
              <a:t>Quinto nível</a:t>
            </a:r>
          </a:p>
        </p:txBody>
      </p:sp>
      <p:sp>
        <p:nvSpPr>
          <p:cNvPr id="1054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054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EDAA1ED-1ABC-4D2A-8C2B-A202150FE8E7}" type="slidenum">
              <a:rPr lang="pt-PT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116505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DAA1ED-1ABC-4D2A-8C2B-A202150FE8E7}" type="slidenum">
              <a:rPr lang="pt-PT" smtClean="0"/>
              <a:pPr>
                <a:defRPr/>
              </a:pPr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60061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97804-1C2C-4E3A-B850-0BB4C7512AE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38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ângulo 8"/>
          <p:cNvSpPr/>
          <p:nvPr userDrawn="1"/>
        </p:nvSpPr>
        <p:spPr>
          <a:xfrm flipV="1">
            <a:off x="0" y="2571750"/>
            <a:ext cx="9144000" cy="71438"/>
          </a:xfrm>
          <a:prstGeom prst="rect">
            <a:avLst/>
          </a:prstGeom>
          <a:solidFill>
            <a:srgbClr val="649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 sz="1200" dirty="0">
              <a:solidFill>
                <a:schemeClr val="tx1"/>
              </a:solidFill>
            </a:endParaRPr>
          </a:p>
        </p:txBody>
      </p:sp>
      <p:sp>
        <p:nvSpPr>
          <p:cNvPr id="665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200144"/>
            <a:ext cx="7772400" cy="13716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PT"/>
              <a:t>Clique para editar o estilo do título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4212" y="2714620"/>
            <a:ext cx="7816877" cy="260350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100"/>
            </a:lvl1pPr>
          </a:lstStyle>
          <a:p>
            <a:r>
              <a:rPr lang="pt-PT" dirty="0"/>
              <a:t>Faça clique para editar o estilo do subtítulo do modelo global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394EE0-5839-4AD3-BA0C-EF83886F3768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Prof. José Cordeiro – Prof. Rui César das Neves</a:t>
            </a:r>
            <a:endParaRPr lang="pt-PT" dirty="0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657E05-6EE5-4B7E-904B-98FA5A4E40D4}" type="slidenum">
              <a:rPr lang="pt-PT"/>
              <a:pPr>
                <a:defRPr/>
              </a:pPr>
              <a:t>‹#›</a:t>
            </a:fld>
            <a:endParaRPr lang="pt-PT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w Cen MT" panose="020B0602020104020603" pitchFamily="34" charset="0"/>
              </a:defRPr>
            </a:lvl1pPr>
            <a:lvl2pPr>
              <a:defRPr>
                <a:latin typeface="Tw Cen MT" panose="020B0602020104020603" pitchFamily="34" charset="0"/>
              </a:defRPr>
            </a:lvl2pPr>
            <a:lvl3pPr>
              <a:defRPr>
                <a:latin typeface="Tw Cen MT" panose="020B0602020104020603" pitchFamily="34" charset="0"/>
              </a:defRPr>
            </a:lvl3pPr>
            <a:lvl4pPr>
              <a:defRPr>
                <a:latin typeface="Tw Cen MT" panose="020B0602020104020603" pitchFamily="34" charset="0"/>
              </a:defRPr>
            </a:lvl4pPr>
            <a:lvl5pPr>
              <a:defRPr>
                <a:latin typeface="Tw Cen MT" panose="020B0602020104020603" pitchFamily="34" charset="0"/>
              </a:defRPr>
            </a:lvl5pPr>
          </a:lstStyle>
          <a:p>
            <a:pPr lvl="0"/>
            <a:r>
              <a:rPr lang="pt-PT" noProof="0" dirty="0"/>
              <a:t>Clique para editar os estilos</a:t>
            </a:r>
          </a:p>
          <a:p>
            <a:pPr lvl="1"/>
            <a:r>
              <a:rPr lang="pt-PT" noProof="0" dirty="0"/>
              <a:t>Segundo nível</a:t>
            </a:r>
          </a:p>
          <a:p>
            <a:pPr lvl="2"/>
            <a:r>
              <a:rPr lang="pt-PT" noProof="0" dirty="0"/>
              <a:t>Terceiro nível</a:t>
            </a:r>
          </a:p>
          <a:p>
            <a:pPr lvl="3"/>
            <a:r>
              <a:rPr lang="pt-PT" noProof="0" dirty="0"/>
              <a:t>Quarto nível</a:t>
            </a:r>
          </a:p>
          <a:p>
            <a:pPr lvl="4"/>
            <a:r>
              <a:rPr lang="pt-PT" noProof="0" dirty="0"/>
              <a:t>Quinto nível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‹#›</a:t>
            </a:fld>
            <a:endParaRPr lang="pt-PT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PT" dirty="0"/>
              <a:t>Clique para editar os estilos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81F77AFB-B189-41F6-8497-C6F3F6BB73A1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A65862D0-8445-4668-B1AF-57E5CECA6645}" type="slidenum">
              <a:rPr lang="pt-PT" smtClean="0"/>
              <a:pPr>
                <a:defRPr/>
              </a:pPr>
              <a:t>‹#›</a:t>
            </a:fld>
            <a:endParaRPr lang="pt-PT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566738" y="1557338"/>
            <a:ext cx="3924300" cy="4462462"/>
          </a:xfrm>
        </p:spPr>
        <p:txBody>
          <a:bodyPr/>
          <a:lstStyle>
            <a:lvl1pPr>
              <a:defRPr sz="2800">
                <a:latin typeface="Tw Cen MT" panose="020B0602020104020603" pitchFamily="34" charset="0"/>
              </a:defRPr>
            </a:lvl1pPr>
            <a:lvl2pPr>
              <a:defRPr sz="2400">
                <a:latin typeface="Tw Cen MT" panose="020B0602020104020603" pitchFamily="34" charset="0"/>
              </a:defRPr>
            </a:lvl2pPr>
            <a:lvl3pPr>
              <a:defRPr sz="2000">
                <a:latin typeface="Tw Cen MT" panose="020B0602020104020603" pitchFamily="34" charset="0"/>
              </a:defRPr>
            </a:lvl3pPr>
            <a:lvl4pPr>
              <a:defRPr sz="1800">
                <a:latin typeface="Tw Cen MT" panose="020B0602020104020603" pitchFamily="34" charset="0"/>
              </a:defRPr>
            </a:lvl4pPr>
            <a:lvl5pPr>
              <a:defRPr sz="1800">
                <a:latin typeface="Tw Cen MT" panose="020B0602020104020603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3438" y="1557338"/>
            <a:ext cx="3924300" cy="4462462"/>
          </a:xfrm>
        </p:spPr>
        <p:txBody>
          <a:bodyPr/>
          <a:lstStyle>
            <a:lvl1pPr>
              <a:defRPr sz="2800">
                <a:latin typeface="Tw Cen MT" panose="020B0602020104020603" pitchFamily="34" charset="0"/>
              </a:defRPr>
            </a:lvl1pPr>
            <a:lvl2pPr>
              <a:defRPr sz="2400">
                <a:latin typeface="Tw Cen MT" panose="020B0602020104020603" pitchFamily="34" charset="0"/>
              </a:defRPr>
            </a:lvl2pPr>
            <a:lvl3pPr>
              <a:defRPr sz="2000">
                <a:latin typeface="Tw Cen MT" panose="020B0602020104020603" pitchFamily="34" charset="0"/>
              </a:defRPr>
            </a:lvl3pPr>
            <a:lvl4pPr>
              <a:defRPr sz="1800">
                <a:latin typeface="Tw Cen MT" panose="020B0602020104020603" pitchFamily="34" charset="0"/>
              </a:defRPr>
            </a:lvl4pPr>
            <a:lvl5pPr>
              <a:defRPr sz="1800">
                <a:latin typeface="Tw Cen MT" panose="020B0602020104020603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FE8E8286-D324-4493-8200-4A878BE57024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97A3AA1B-9B1C-42F9-B055-D3AC0355A120}" type="slidenum">
              <a:rPr lang="pt-PT" smtClean="0"/>
              <a:pPr>
                <a:defRPr/>
              </a:pPr>
              <a:t>‹#›</a:t>
            </a:fld>
            <a:endParaRPr lang="pt-PT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Tw Cen MT Condensed Extra Bold" panose="020B0803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dirty="0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Tw Cen MT" panose="020B0602020104020603" pitchFamily="34" charset="0"/>
              </a:defRPr>
            </a:lvl1pPr>
            <a:lvl2pPr>
              <a:defRPr sz="2000">
                <a:latin typeface="Tw Cen MT" panose="020B0602020104020603" pitchFamily="34" charset="0"/>
              </a:defRPr>
            </a:lvl2pPr>
            <a:lvl3pPr>
              <a:defRPr sz="1800">
                <a:latin typeface="Tw Cen MT" panose="020B0602020104020603" pitchFamily="34" charset="0"/>
              </a:defRPr>
            </a:lvl3pPr>
            <a:lvl4pPr>
              <a:defRPr sz="1600">
                <a:latin typeface="Tw Cen MT" panose="020B0602020104020603" pitchFamily="34" charset="0"/>
              </a:defRPr>
            </a:lvl4pPr>
            <a:lvl5pPr>
              <a:defRPr sz="1600">
                <a:latin typeface="Tw Cen MT" panose="020B0602020104020603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Tw Cen MT Condensed Extra Bold" panose="020B0803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dirty="0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Tw Cen MT" panose="020B0602020104020603" pitchFamily="34" charset="0"/>
              </a:defRPr>
            </a:lvl1pPr>
            <a:lvl2pPr>
              <a:defRPr sz="2000">
                <a:latin typeface="Tw Cen MT" panose="020B0602020104020603" pitchFamily="34" charset="0"/>
              </a:defRPr>
            </a:lvl2pPr>
            <a:lvl3pPr>
              <a:defRPr sz="1800">
                <a:latin typeface="Tw Cen MT" panose="020B0602020104020603" pitchFamily="34" charset="0"/>
              </a:defRPr>
            </a:lvl3pPr>
            <a:lvl4pPr>
              <a:defRPr sz="1600">
                <a:latin typeface="Tw Cen MT" panose="020B0602020104020603" pitchFamily="34" charset="0"/>
              </a:defRPr>
            </a:lvl4pPr>
            <a:lvl5pPr>
              <a:defRPr sz="1600">
                <a:latin typeface="Tw Cen MT" panose="020B0602020104020603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630A7F9C-3ECF-4233-A14B-108852043E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85DA1984-7FFB-4DA7-9497-3F9D0C4CD948}" type="slidenum">
              <a:rPr lang="pt-PT" smtClean="0"/>
              <a:pPr>
                <a:defRPr/>
              </a:pPr>
              <a:t>‹#›</a:t>
            </a:fld>
            <a:endParaRPr lang="pt-PT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BFB249CD-48B1-4BE4-B2B2-CBE7789AACED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8F477DA7-2E73-4645-AD7B-838C97C3032D}" type="slidenum">
              <a:rPr lang="pt-PT" smtClean="0"/>
              <a:pPr>
                <a:defRPr/>
              </a:pPr>
              <a:t>‹#›</a:t>
            </a:fld>
            <a:endParaRPr lang="pt-PT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7BDB9E1C-6911-4766-B012-606C88108250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090C6121-702E-4979-8685-5994F4D303E0}" type="slidenum">
              <a:rPr lang="pt-PT" smtClean="0"/>
              <a:pPr>
                <a:defRPr/>
              </a:pPr>
              <a:t>‹#›</a:t>
            </a:fld>
            <a:endParaRPr lang="pt-PT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Tw Cen MT" panose="020B0602020104020603" pitchFamily="34" charset="0"/>
              </a:defRPr>
            </a:lvl1pPr>
            <a:lvl2pPr>
              <a:defRPr sz="2800">
                <a:latin typeface="Tw Cen MT" panose="020B0602020104020603" pitchFamily="34" charset="0"/>
              </a:defRPr>
            </a:lvl2pPr>
            <a:lvl3pPr>
              <a:defRPr sz="2400">
                <a:latin typeface="Tw Cen MT" panose="020B0602020104020603" pitchFamily="34" charset="0"/>
              </a:defRPr>
            </a:lvl3pPr>
            <a:lvl4pPr>
              <a:defRPr sz="2000">
                <a:latin typeface="Tw Cen MT" panose="020B0602020104020603" pitchFamily="34" charset="0"/>
              </a:defRPr>
            </a:lvl4pPr>
            <a:lvl5pPr>
              <a:defRPr sz="2000">
                <a:latin typeface="Tw Cen MT" panose="020B06020201040206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dirty="0"/>
              <a:t>Clique para editar os estilos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EF312A00-FE76-437D-86D0-125F3E48A1DC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50DF5C54-426B-413C-ADB9-F081CBD20AD4}" type="slidenum">
              <a:rPr lang="pt-PT" smtClean="0"/>
              <a:pPr>
                <a:defRPr/>
              </a:pPr>
              <a:t>‹#›</a:t>
            </a:fld>
            <a:endParaRPr lang="pt-PT" dirty="0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PT" noProof="0" dirty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dirty="0"/>
              <a:t>Clique para editar os estilos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AD89275D-AD76-4A6B-BEBB-F4D4A3E87B11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E6625070-3D2F-4A37-BCBA-A1322AC10E59}" type="slidenum">
              <a:rPr lang="pt-PT" smtClean="0"/>
              <a:pPr>
                <a:defRPr/>
              </a:pPr>
              <a:t>‹#›</a:t>
            </a:fld>
            <a:endParaRPr lang="pt-PT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Tw Cen MT" panose="020B0602020104020603" pitchFamily="34" charset="0"/>
              </a:defRPr>
            </a:lvl1pPr>
            <a:lvl2pPr>
              <a:defRPr>
                <a:latin typeface="Tw Cen MT" panose="020B0602020104020603" pitchFamily="34" charset="0"/>
              </a:defRPr>
            </a:lvl2pPr>
            <a:lvl3pPr>
              <a:defRPr>
                <a:latin typeface="Tw Cen MT" panose="020B0602020104020603" pitchFamily="34" charset="0"/>
              </a:defRPr>
            </a:lvl3pPr>
            <a:lvl4pPr>
              <a:defRPr>
                <a:latin typeface="Tw Cen MT" panose="020B0602020104020603" pitchFamily="34" charset="0"/>
              </a:defRPr>
            </a:lvl4pPr>
            <a:lvl5pPr>
              <a:defRPr>
                <a:latin typeface="Tw Cen MT" panose="020B0602020104020603" pitchFamily="34" charset="0"/>
              </a:defRPr>
            </a:lvl5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41E79B06-E857-40F6-94F6-6B6D0933D262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78C827DA-03C6-4307-8246-C3B5C52A9E2D}" type="slidenum">
              <a:rPr lang="pt-PT" smtClean="0"/>
              <a:pPr>
                <a:defRPr/>
              </a:pPr>
              <a:t>‹#›</a:t>
            </a:fld>
            <a:endParaRPr lang="pt-PT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>
            <a:lvl1pPr>
              <a:defRPr>
                <a:latin typeface="Tw Cen MT" panose="020B0602020104020603" pitchFamily="34" charset="0"/>
              </a:defRPr>
            </a:lvl1pPr>
            <a:lvl2pPr>
              <a:defRPr>
                <a:latin typeface="Tw Cen MT" panose="020B0602020104020603" pitchFamily="34" charset="0"/>
              </a:defRPr>
            </a:lvl2pPr>
            <a:lvl3pPr>
              <a:defRPr>
                <a:latin typeface="Tw Cen MT" panose="020B0602020104020603" pitchFamily="34" charset="0"/>
              </a:defRPr>
            </a:lvl3pPr>
            <a:lvl4pPr>
              <a:defRPr>
                <a:latin typeface="Tw Cen MT" panose="020B0602020104020603" pitchFamily="34" charset="0"/>
              </a:defRPr>
            </a:lvl4pPr>
            <a:lvl5pPr>
              <a:defRPr>
                <a:latin typeface="Tw Cen MT" panose="020B0602020104020603" pitchFamily="34" charset="0"/>
              </a:defRPr>
            </a:lvl5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796046D9-08FF-48E6-85E1-903670BE2091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DA087128-A4BD-44F0-BB90-5E74F2864A2B}" type="slidenum">
              <a:rPr lang="pt-PT" smtClean="0"/>
              <a:pPr>
                <a:defRPr/>
              </a:pPr>
              <a:t>‹#›</a:t>
            </a:fld>
            <a:endParaRPr lang="pt-PT" dirty="0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676275"/>
          </a:xfrm>
        </p:spPr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sz="half" idx="1"/>
          </p:nvPr>
        </p:nvSpPr>
        <p:spPr>
          <a:xfrm>
            <a:off x="566738" y="1557338"/>
            <a:ext cx="3924300" cy="4462462"/>
          </a:xfrm>
        </p:spPr>
        <p:txBody>
          <a:bodyPr/>
          <a:lstStyle>
            <a:lvl1pPr>
              <a:defRPr>
                <a:latin typeface="Tw Cen MT" panose="020B0602020104020603" pitchFamily="34" charset="0"/>
              </a:defRPr>
            </a:lvl1pPr>
            <a:lvl2pPr>
              <a:defRPr>
                <a:latin typeface="Tw Cen MT" panose="020B0602020104020603" pitchFamily="34" charset="0"/>
              </a:defRPr>
            </a:lvl2pPr>
            <a:lvl3pPr>
              <a:defRPr>
                <a:latin typeface="Tw Cen MT" panose="020B0602020104020603" pitchFamily="34" charset="0"/>
              </a:defRPr>
            </a:lvl3pPr>
            <a:lvl4pPr>
              <a:defRPr>
                <a:latin typeface="Tw Cen MT" panose="020B0602020104020603" pitchFamily="34" charset="0"/>
              </a:defRPr>
            </a:lvl4pPr>
            <a:lvl5pPr>
              <a:defRPr>
                <a:latin typeface="Tw Cen MT" panose="020B0602020104020603" pitchFamily="34" charset="0"/>
              </a:defRPr>
            </a:lvl5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3438" y="1557338"/>
            <a:ext cx="3924300" cy="4462462"/>
          </a:xfrm>
        </p:spPr>
        <p:txBody>
          <a:bodyPr/>
          <a:lstStyle>
            <a:lvl1pPr>
              <a:defRPr>
                <a:latin typeface="Tw Cen MT" panose="020B0602020104020603" pitchFamily="34" charset="0"/>
              </a:defRPr>
            </a:lvl1pPr>
            <a:lvl2pPr>
              <a:defRPr>
                <a:latin typeface="Tw Cen MT" panose="020B0602020104020603" pitchFamily="34" charset="0"/>
              </a:defRPr>
            </a:lvl2pPr>
            <a:lvl3pPr>
              <a:defRPr>
                <a:latin typeface="Tw Cen MT" panose="020B0602020104020603" pitchFamily="34" charset="0"/>
              </a:defRPr>
            </a:lvl3pPr>
            <a:lvl4pPr>
              <a:defRPr>
                <a:latin typeface="Tw Cen MT" panose="020B0602020104020603" pitchFamily="34" charset="0"/>
              </a:defRPr>
            </a:lvl4pPr>
            <a:lvl5pPr>
              <a:defRPr>
                <a:latin typeface="Tw Cen MT" panose="020B0602020104020603" pitchFamily="34" charset="0"/>
              </a:defRPr>
            </a:lvl5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8822B4FE-8FA8-4B78-A4E3-6181FD7E2BC9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48B80316-5803-4689-8EE5-196A10EA5ACA}" type="slidenum">
              <a:rPr lang="pt-PT" smtClean="0"/>
              <a:pPr>
                <a:defRPr/>
              </a:pPr>
              <a:t>‹#›</a:t>
            </a:fld>
            <a:endParaRPr lang="pt-PT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ângulo 9"/>
          <p:cNvSpPr/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49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 sz="1200" b="0" dirty="0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  <p:sp>
        <p:nvSpPr>
          <p:cNvPr id="14" name="Rectângulo 13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649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PT" sz="1200" dirty="0">
              <a:solidFill>
                <a:schemeClr val="tx1"/>
              </a:solidFill>
            </a:endParaRPr>
          </a:p>
        </p:txBody>
      </p:sp>
      <p:sp>
        <p:nvSpPr>
          <p:cNvPr id="205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137744"/>
            <a:ext cx="91440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PT" dirty="0"/>
              <a:t>Clique para editar o estilo do título</a:t>
            </a:r>
          </a:p>
        </p:txBody>
      </p:sp>
      <p:sp>
        <p:nvSpPr>
          <p:cNvPr id="205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7188" y="1143000"/>
            <a:ext cx="8429625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dirty="0"/>
              <a:t>Clique para editar os estilos de texto do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6554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6456" y="6525345"/>
            <a:ext cx="396107" cy="311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bg1"/>
                </a:solidFill>
                <a:latin typeface="Tw Cen MT" panose="020B0602020104020603" pitchFamily="34" charset="0"/>
                <a:cs typeface="Arial" charset="0"/>
              </a:defRPr>
            </a:lvl1pPr>
          </a:lstStyle>
          <a:p>
            <a:pPr>
              <a:defRPr/>
            </a:pPr>
            <a:fld id="{B3BE0205-B125-4899-A233-9E374FBBE92C}" type="slidenum">
              <a:rPr lang="pt-PT" smtClean="0"/>
              <a:pPr>
                <a:defRPr/>
              </a:pPr>
              <a:t>‹#›</a:t>
            </a:fld>
            <a:endParaRPr lang="pt-PT" dirty="0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259632" y="6525344"/>
            <a:ext cx="7384306" cy="32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b="0">
                <a:solidFill>
                  <a:schemeClr val="bg1"/>
                </a:solidFill>
                <a:latin typeface="Tw Cen MT Condensed" panose="020B0606020104020203" pitchFamily="34" charset="0"/>
                <a:cs typeface="Arial" charset="0"/>
              </a:defRPr>
            </a:lvl1pPr>
          </a:lstStyle>
          <a:p>
            <a:pPr>
              <a:defRPr/>
            </a:pPr>
            <a:r>
              <a:rPr lang="pt-PT" dirty="0"/>
              <a:t>Prof. José Cordeiro – Prof. Rui César </a:t>
            </a:r>
            <a:r>
              <a:rPr lang="pt-PT" dirty="0">
                <a:latin typeface="Tw Cen MT" panose="020B0602020104020603" pitchFamily="34" charset="0"/>
              </a:rPr>
              <a:t>das</a:t>
            </a:r>
            <a:r>
              <a:rPr lang="pt-PT" dirty="0"/>
              <a:t> Neves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438" y="6525344"/>
            <a:ext cx="1176337" cy="32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 b="1">
                <a:solidFill>
                  <a:schemeClr val="bg1"/>
                </a:solidFill>
                <a:latin typeface="Tw Cen MT" panose="020B0602020104020603" pitchFamily="34" charset="0"/>
                <a:cs typeface="Arial" charset="0"/>
              </a:defRPr>
            </a:lvl1pPr>
          </a:lstStyle>
          <a:p>
            <a:pPr>
              <a:defRPr/>
            </a:pPr>
            <a:fld id="{D18AD041-1884-48FA-AD51-A0587944CDED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15" r:id="rId1"/>
    <p:sldLayoutId id="2147484404" r:id="rId2"/>
    <p:sldLayoutId id="2147484405" r:id="rId3"/>
    <p:sldLayoutId id="2147484406" r:id="rId4"/>
    <p:sldLayoutId id="2147484407" r:id="rId5"/>
    <p:sldLayoutId id="2147484408" r:id="rId6"/>
    <p:sldLayoutId id="2147484409" r:id="rId7"/>
    <p:sldLayoutId id="2147484410" r:id="rId8"/>
    <p:sldLayoutId id="2147484411" r:id="rId9"/>
    <p:sldLayoutId id="2147484412" r:id="rId10"/>
    <p:sldLayoutId id="2147484413" r:id="rId11"/>
    <p:sldLayoutId id="2147484414" r:id="rId12"/>
  </p:sldLayoutIdLst>
  <p:transition>
    <p:fade/>
  </p:transition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 b="0">
          <a:solidFill>
            <a:schemeClr val="bg1"/>
          </a:solidFill>
          <a:latin typeface="Tw Cen MT Condensed" panose="020B0606020104020203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pitchFamily="34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pitchFamily="34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pitchFamily="34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folHlink"/>
          </a:solidFill>
          <a:latin typeface="Verdana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folHlink"/>
          </a:solidFill>
          <a:latin typeface="Verdana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folHlink"/>
          </a:solidFill>
          <a:latin typeface="Verdana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folHlink"/>
          </a:solidFill>
          <a:latin typeface="Verdana" pitchFamily="34" charset="0"/>
          <a:cs typeface="Arial" charset="0"/>
        </a:defRPr>
      </a:lvl9pPr>
    </p:titleStyle>
    <p:bodyStyle>
      <a:lvl1pPr marL="469900" indent="-469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SzPct val="80000"/>
        <a:buFont typeface="Wingdings" pitchFamily="2" charset="2"/>
        <a:buChar char="o"/>
        <a:defRPr sz="2200">
          <a:solidFill>
            <a:schemeClr val="tx1"/>
          </a:solidFill>
          <a:latin typeface="Tw Cen MT" panose="020B0602020104020603" pitchFamily="34" charset="0"/>
          <a:ea typeface="+mn-ea"/>
          <a:cs typeface="+mn-cs"/>
        </a:defRPr>
      </a:lvl1pPr>
      <a:lvl2pPr marL="908050" indent="-436563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SzPct val="8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2pPr>
      <a:lvl3pPr marL="1304925" indent="-395288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SzPct val="80000"/>
        <a:buFont typeface="Wingdings" pitchFamily="2" charset="2"/>
        <a:buChar char="o"/>
        <a:defRPr sz="1900">
          <a:solidFill>
            <a:schemeClr val="tx1"/>
          </a:solidFill>
          <a:latin typeface="+mn-lt"/>
          <a:cs typeface="+mn-cs"/>
        </a:defRPr>
      </a:lvl3pPr>
      <a:lvl4pPr marL="1693863" indent="-3873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SzPct val="8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4pPr>
      <a:lvl5pPr marL="2093913" indent="-398463" algn="l" rtl="0" eaLnBrk="0" fontAlgn="base" hangingPunct="0">
        <a:lnSpc>
          <a:spcPct val="120000"/>
        </a:lnSpc>
        <a:spcBef>
          <a:spcPct val="25000"/>
        </a:spcBef>
        <a:spcAft>
          <a:spcPct val="0"/>
        </a:spcAft>
        <a:buSzPct val="80000"/>
        <a:buFont typeface="Wingdings" pitchFamily="2" charset="2"/>
        <a:buChar char="§"/>
        <a:defRPr sz="1600">
          <a:solidFill>
            <a:schemeClr val="tx1"/>
          </a:solidFill>
          <a:latin typeface="+mn-lt"/>
          <a:cs typeface="+mn-cs"/>
        </a:defRPr>
      </a:lvl5pPr>
      <a:lvl6pPr marL="2551113" indent="-398463" algn="l" rtl="0" fontAlgn="base">
        <a:lnSpc>
          <a:spcPct val="120000"/>
        </a:lnSpc>
        <a:spcBef>
          <a:spcPct val="2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  <a:cs typeface="+mn-cs"/>
        </a:defRPr>
      </a:lvl6pPr>
      <a:lvl7pPr marL="3008313" indent="-398463" algn="l" rtl="0" fontAlgn="base">
        <a:lnSpc>
          <a:spcPct val="120000"/>
        </a:lnSpc>
        <a:spcBef>
          <a:spcPct val="2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  <a:cs typeface="+mn-cs"/>
        </a:defRPr>
      </a:lvl7pPr>
      <a:lvl8pPr marL="3465513" indent="-398463" algn="l" rtl="0" fontAlgn="base">
        <a:lnSpc>
          <a:spcPct val="120000"/>
        </a:lnSpc>
        <a:spcBef>
          <a:spcPct val="2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  <a:cs typeface="+mn-cs"/>
        </a:defRPr>
      </a:lvl8pPr>
      <a:lvl9pPr marL="3922713" indent="-398463" algn="l" rtl="0" fontAlgn="base">
        <a:lnSpc>
          <a:spcPct val="120000"/>
        </a:lnSpc>
        <a:spcBef>
          <a:spcPct val="2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PT" dirty="0">
                <a:solidFill>
                  <a:schemeClr val="tx1"/>
                </a:solidFill>
              </a:rPr>
              <a:t>Programação Orientada por Objetos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3" y="2714620"/>
            <a:ext cx="7776220" cy="3306668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pt-PT" sz="3200" dirty="0">
                <a:latin typeface="Tw Cen MT Condensed Extra Bold" panose="020B0803020202020204" pitchFamily="34" charset="0"/>
              </a:rPr>
              <a:t>Desenho de aplicações</a:t>
            </a:r>
            <a:endParaRPr lang="pt-PT" sz="1400" dirty="0"/>
          </a:p>
          <a:p>
            <a:endParaRPr lang="pt-PT" sz="1400" dirty="0"/>
          </a:p>
          <a:p>
            <a:r>
              <a:rPr lang="pt-PT" sz="1600" dirty="0"/>
              <a:t>Prof. José Cordeiro, </a:t>
            </a:r>
          </a:p>
          <a:p>
            <a:r>
              <a:rPr lang="pt-PT" sz="1600" dirty="0"/>
              <a:t>Prof. José Braz </a:t>
            </a:r>
          </a:p>
          <a:p>
            <a:r>
              <a:rPr lang="pt-PT" sz="1600" dirty="0"/>
              <a:t>Departamento de Sistemas e Informática</a:t>
            </a:r>
          </a:p>
          <a:p>
            <a:r>
              <a:rPr lang="pt-PT" sz="1600" dirty="0"/>
              <a:t>Escola Superior de Tecnologia de Setúbal – Instituto Politécnico de Setúbal</a:t>
            </a:r>
          </a:p>
          <a:p>
            <a:r>
              <a:rPr lang="pt-PT" sz="1600" dirty="0"/>
              <a:t>2016/2017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Sumário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PT" sz="3000" dirty="0"/>
              <a:t>Análise de Especificações</a:t>
            </a:r>
          </a:p>
          <a:p>
            <a:pPr lvl="1"/>
            <a:r>
              <a:rPr lang="pt-PT" sz="3000" dirty="0"/>
              <a:t>O método verbos/substantivos</a:t>
            </a:r>
          </a:p>
          <a:p>
            <a:pPr lvl="1"/>
            <a:r>
              <a:rPr lang="pt-PT" sz="3000" dirty="0"/>
              <a:t>Cartas CRC (</a:t>
            </a:r>
            <a:r>
              <a:rPr lang="pt-PT" sz="3000" b="1" dirty="0"/>
              <a:t>C</a:t>
            </a:r>
            <a:r>
              <a:rPr lang="pt-PT" sz="3000" dirty="0"/>
              <a:t>lasses </a:t>
            </a:r>
            <a:r>
              <a:rPr lang="pt-PT" sz="3000" b="1" dirty="0"/>
              <a:t>R</a:t>
            </a:r>
            <a:r>
              <a:rPr lang="pt-PT" sz="3000" dirty="0"/>
              <a:t>esponsabilidades </a:t>
            </a:r>
            <a:r>
              <a:rPr lang="pt-PT" sz="3000" b="1" dirty="0"/>
              <a:t>C</a:t>
            </a:r>
            <a:r>
              <a:rPr lang="pt-PT" sz="3000" dirty="0"/>
              <a:t>olaboradores</a:t>
            </a:r>
          </a:p>
          <a:p>
            <a:r>
              <a:rPr lang="pt-PT" sz="3000" dirty="0"/>
              <a:t>Desenho de aplicações</a:t>
            </a:r>
          </a:p>
          <a:p>
            <a:pPr lvl="1"/>
            <a:r>
              <a:rPr lang="pt-PT" sz="2800" dirty="0"/>
              <a:t>UML – Diagrama de Classes</a:t>
            </a:r>
          </a:p>
          <a:p>
            <a:pPr lvl="1"/>
            <a:r>
              <a:rPr lang="pt-PT" sz="3000" dirty="0"/>
              <a:t>UML - Cenários (Casos de Utilização – Uses Cases)</a:t>
            </a:r>
          </a:p>
          <a:p>
            <a:r>
              <a:rPr lang="pt-PT" sz="3000" dirty="0"/>
              <a:t>Desenvolvimento de software</a:t>
            </a:r>
          </a:p>
          <a:p>
            <a:pPr lvl="1"/>
            <a:r>
              <a:rPr lang="pt-PT" sz="3000" dirty="0"/>
              <a:t>O modelo </a:t>
            </a:r>
            <a:r>
              <a:rPr lang="pt-PT" sz="3000" dirty="0" err="1"/>
              <a:t>waterfall</a:t>
            </a:r>
            <a:endParaRPr lang="pt-PT" sz="3000" dirty="0"/>
          </a:p>
          <a:p>
            <a:pPr lvl="1"/>
            <a:r>
              <a:rPr lang="pt-PT" sz="3000" dirty="0"/>
              <a:t>O modelo iterativo</a:t>
            </a:r>
          </a:p>
          <a:p>
            <a:endParaRPr lang="pt-PT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3C4D9AA-9EEA-4D94-BA55-83265BEA336D}" type="datetime1">
              <a:rPr lang="pt-PT" b="0" smtClean="0"/>
              <a:pPr>
                <a:defRPr/>
              </a:pPr>
              <a:t>24/04/2020</a:t>
            </a:fld>
            <a:endParaRPr lang="pt-PT" b="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2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6053458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Exemplo  – Sistema de reservas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80728"/>
            <a:ext cx="8964488" cy="54006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pt-PT" sz="3000" b="1" dirty="0"/>
              <a:t>Sistema de reserva de lugares para cinemas.</a:t>
            </a:r>
          </a:p>
          <a:p>
            <a:pPr lvl="1">
              <a:lnSpc>
                <a:spcPts val="2500"/>
              </a:lnSpc>
              <a:spcBef>
                <a:spcPts val="500"/>
              </a:spcBef>
            </a:pPr>
            <a:r>
              <a:rPr lang="pt-PT" sz="2500" dirty="0"/>
              <a:t>O sistema de reservas do cinema deve guardar as reservas de lugares para várias salas.</a:t>
            </a:r>
          </a:p>
          <a:p>
            <a:pPr lvl="1">
              <a:lnSpc>
                <a:spcPts val="2500"/>
              </a:lnSpc>
              <a:spcBef>
                <a:spcPts val="500"/>
              </a:spcBef>
            </a:pPr>
            <a:r>
              <a:rPr lang="pt-PT" sz="2500" dirty="0"/>
              <a:t>Cada sala tem os lugares dispostos por filas.</a:t>
            </a:r>
          </a:p>
          <a:p>
            <a:pPr lvl="1">
              <a:lnSpc>
                <a:spcPts val="2500"/>
              </a:lnSpc>
              <a:spcBef>
                <a:spcPts val="500"/>
              </a:spcBef>
            </a:pPr>
            <a:r>
              <a:rPr lang="pt-PT" sz="2500" dirty="0"/>
              <a:t>Os clientes podem reservar os lugares e ficam </a:t>
            </a:r>
            <a:br>
              <a:rPr lang="pt-PT" sz="2500" dirty="0"/>
            </a:br>
            <a:r>
              <a:rPr lang="pt-PT" sz="2500" dirty="0"/>
              <a:t>com a letra da fila e o número do lugar.</a:t>
            </a:r>
          </a:p>
          <a:p>
            <a:pPr lvl="1">
              <a:lnSpc>
                <a:spcPts val="2500"/>
              </a:lnSpc>
              <a:spcBef>
                <a:spcPts val="500"/>
              </a:spcBef>
            </a:pPr>
            <a:r>
              <a:rPr lang="pt-PT" sz="2500" dirty="0"/>
              <a:t>Eles podem solicitar a reserva de vários </a:t>
            </a:r>
            <a:br>
              <a:rPr lang="pt-PT" sz="2500" dirty="0"/>
            </a:br>
            <a:r>
              <a:rPr lang="pt-PT" sz="2500" dirty="0"/>
              <a:t>lugares adjacentes.</a:t>
            </a:r>
          </a:p>
          <a:p>
            <a:pPr lvl="1">
              <a:lnSpc>
                <a:spcPts val="2500"/>
              </a:lnSpc>
              <a:spcBef>
                <a:spcPts val="500"/>
              </a:spcBef>
            </a:pPr>
            <a:r>
              <a:rPr lang="pt-PT" sz="2500" dirty="0"/>
              <a:t>Cada reserva é para uma determinada </a:t>
            </a:r>
            <a:br>
              <a:rPr lang="pt-PT" sz="2500" dirty="0"/>
            </a:br>
            <a:r>
              <a:rPr lang="pt-PT" sz="2500" dirty="0"/>
              <a:t>sessão (ou seja a projeção de um dado filme </a:t>
            </a:r>
            <a:br>
              <a:rPr lang="pt-PT" sz="2500" dirty="0"/>
            </a:br>
            <a:r>
              <a:rPr lang="pt-PT" sz="2500" dirty="0"/>
              <a:t>a uma certa hora).</a:t>
            </a:r>
          </a:p>
          <a:p>
            <a:pPr lvl="1">
              <a:lnSpc>
                <a:spcPts val="2500"/>
              </a:lnSpc>
              <a:spcBef>
                <a:spcPts val="500"/>
              </a:spcBef>
            </a:pPr>
            <a:r>
              <a:rPr lang="pt-PT" sz="2500" dirty="0"/>
              <a:t>As sessões têm uma data e hora e estão escalonadas para uma determinada sala.</a:t>
            </a:r>
          </a:p>
          <a:p>
            <a:pPr lvl="1">
              <a:lnSpc>
                <a:spcPts val="2500"/>
              </a:lnSpc>
              <a:spcBef>
                <a:spcPts val="500"/>
              </a:spcBef>
            </a:pPr>
            <a:r>
              <a:rPr lang="pt-PT" sz="2500" dirty="0"/>
              <a:t>O sistema guarda o número do telefone do cliente.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97F1349-2AC0-4F20-9F67-F56C6FD5EF06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3</a:t>
            </a:fld>
            <a:endParaRPr lang="pt-PT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719" y="2212865"/>
            <a:ext cx="2520281" cy="275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6356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Exemplo – Sistema de reservas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4</a:t>
            </a:fld>
            <a:endParaRPr lang="pt-PT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251520" y="976138"/>
            <a:ext cx="8712968" cy="5170771"/>
          </a:xfrm>
        </p:spPr>
        <p:txBody>
          <a:bodyPr/>
          <a:lstStyle/>
          <a:p>
            <a:pPr marL="623888" indent="-623888"/>
            <a:r>
              <a:rPr lang="pt-PT" sz="5000" b="1" dirty="0"/>
              <a:t>Objetivo:</a:t>
            </a:r>
          </a:p>
          <a:p>
            <a:pPr marL="1073150" lvl="1" indent="-449263"/>
            <a:r>
              <a:rPr lang="pt-PT" sz="4500" dirty="0"/>
              <a:t>Diagrama de classes do </a:t>
            </a:r>
            <a:r>
              <a:rPr lang="pt-PT" sz="4500" b="1" dirty="0">
                <a:solidFill>
                  <a:srgbClr val="FF0000"/>
                </a:solidFill>
              </a:rPr>
              <a:t>Sistema de Reservas</a:t>
            </a:r>
            <a:r>
              <a:rPr lang="pt-PT" sz="4500" dirty="0"/>
              <a:t>:</a:t>
            </a:r>
          </a:p>
          <a:p>
            <a:pPr lvl="1"/>
            <a:endParaRPr lang="pt-PT" sz="1800" dirty="0"/>
          </a:p>
          <a:p>
            <a:pPr marL="33337" indent="0">
              <a:buNone/>
            </a:pPr>
            <a:endParaRPr lang="pt-PT" sz="2000" dirty="0"/>
          </a:p>
          <a:p>
            <a:pPr marL="0" indent="0">
              <a:buNone/>
            </a:pPr>
            <a:endParaRPr lang="pt-PT" sz="2000" dirty="0"/>
          </a:p>
          <a:p>
            <a:pPr lvl="1"/>
            <a:endParaRPr lang="pt-PT" sz="18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708920"/>
            <a:ext cx="3060403" cy="328512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3561523"/>
            <a:ext cx="2361315" cy="261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8572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Exemplo – Sistema de reservas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5</a:t>
            </a:fld>
            <a:endParaRPr lang="pt-PT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13611" y="861452"/>
            <a:ext cx="9058951" cy="5519876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pt-PT" sz="3000" dirty="0"/>
              <a:t>Quais são as classes da aplicação?</a:t>
            </a:r>
          </a:p>
          <a:p>
            <a:pPr marL="720725" lvl="1" indent="-249238">
              <a:lnSpc>
                <a:spcPct val="100000"/>
              </a:lnSpc>
              <a:spcBef>
                <a:spcPts val="500"/>
              </a:spcBef>
            </a:pPr>
            <a:r>
              <a:rPr lang="pt-PT" sz="2800" dirty="0"/>
              <a:t>Até agora eram-nos dadas as classes da solução. </a:t>
            </a:r>
          </a:p>
          <a:p>
            <a:pPr marL="720725" lvl="1" indent="-249238">
              <a:lnSpc>
                <a:spcPct val="100000"/>
              </a:lnSpc>
              <a:spcBef>
                <a:spcPts val="500"/>
              </a:spcBef>
            </a:pPr>
            <a:r>
              <a:rPr lang="pt-PT" sz="2800" dirty="0"/>
              <a:t>Num </a:t>
            </a:r>
            <a:r>
              <a:rPr lang="pt-PT" sz="2800" b="1" dirty="0">
                <a:solidFill>
                  <a:srgbClr val="FF0000"/>
                </a:solidFill>
              </a:rPr>
              <a:t>projeto de software </a:t>
            </a:r>
            <a:r>
              <a:rPr lang="pt-PT" sz="2800" dirty="0"/>
              <a:t>real temos de encontrar essas classes, o que não é uma tarefa simples.</a:t>
            </a:r>
          </a:p>
          <a:p>
            <a:pPr marL="720725" lvl="1" indent="-249238">
              <a:lnSpc>
                <a:spcPct val="100000"/>
              </a:lnSpc>
              <a:spcBef>
                <a:spcPts val="500"/>
              </a:spcBef>
            </a:pPr>
            <a:r>
              <a:rPr lang="pt-PT" sz="2800" dirty="0"/>
              <a:t>Os passos iniciais do desenvolvimento de software são a </a:t>
            </a:r>
            <a:r>
              <a:rPr lang="pt-PT" sz="2800" b="1" dirty="0">
                <a:solidFill>
                  <a:srgbClr val="FF0000"/>
                </a:solidFill>
              </a:rPr>
              <a:t>análise e o design</a:t>
            </a:r>
            <a:r>
              <a:rPr lang="pt-PT" sz="2800" dirty="0"/>
              <a:t>.</a:t>
            </a:r>
          </a:p>
          <a:p>
            <a:pPr marL="1703388" lvl="2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Analisa-se o problema.</a:t>
            </a:r>
          </a:p>
          <a:p>
            <a:pPr marL="1703388" lvl="2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Desenha-se a solução (o design da solução).</a:t>
            </a:r>
          </a:p>
          <a:p>
            <a:pPr marL="720725" lvl="1" indent="-249238">
              <a:lnSpc>
                <a:spcPct val="100000"/>
              </a:lnSpc>
              <a:spcBef>
                <a:spcPts val="500"/>
              </a:spcBef>
            </a:pPr>
            <a:r>
              <a:rPr lang="pt-PT" sz="2800" dirty="0"/>
              <a:t>Não existe um método bem definido e único para encontrar as classes da solução. Abordagens simples são:</a:t>
            </a:r>
          </a:p>
          <a:p>
            <a:pPr marL="1703388" lvl="2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O método </a:t>
            </a:r>
            <a:r>
              <a:rPr lang="pt-PT" sz="2500" b="1" dirty="0">
                <a:solidFill>
                  <a:srgbClr val="FF0000"/>
                </a:solidFill>
              </a:rPr>
              <a:t>verbos/</a:t>
            </a:r>
            <a:r>
              <a:rPr lang="pt-PT" sz="2500" b="1" dirty="0">
                <a:solidFill>
                  <a:srgbClr val="00B050"/>
                </a:solidFill>
              </a:rPr>
              <a:t>substantivos</a:t>
            </a:r>
            <a:r>
              <a:rPr lang="pt-PT" sz="2500" b="1" dirty="0"/>
              <a:t>.</a:t>
            </a:r>
          </a:p>
          <a:p>
            <a:pPr marL="1703388" lvl="2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A utilização de </a:t>
            </a:r>
            <a:r>
              <a:rPr lang="pt-PT" sz="2500" b="1" dirty="0">
                <a:solidFill>
                  <a:srgbClr val="FF0000"/>
                </a:solidFill>
              </a:rPr>
              <a:t>cartas CRC</a:t>
            </a:r>
            <a:r>
              <a:rPr lang="pt-PT" sz="2500" b="1" dirty="0"/>
              <a:t>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8277421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- Método verbo/substantivo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6</a:t>
            </a:fld>
            <a:endParaRPr lang="pt-PT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251519" y="908720"/>
            <a:ext cx="8821043" cy="5472608"/>
          </a:xfrm>
        </p:spPr>
        <p:txBody>
          <a:bodyPr/>
          <a:lstStyle/>
          <a:p>
            <a:r>
              <a:rPr lang="pt-PT" sz="3500" dirty="0"/>
              <a:t>Quais são as classes da aplicação?</a:t>
            </a:r>
          </a:p>
          <a:p>
            <a:pPr lvl="1"/>
            <a:r>
              <a:rPr lang="pt-PT" sz="3000" dirty="0"/>
              <a:t>Os </a:t>
            </a:r>
            <a:r>
              <a:rPr lang="pt-PT" sz="3000" b="1" dirty="0">
                <a:solidFill>
                  <a:srgbClr val="00B050"/>
                </a:solidFill>
              </a:rPr>
              <a:t>substantivos</a:t>
            </a:r>
            <a:r>
              <a:rPr lang="pt-PT" sz="3000" dirty="0"/>
              <a:t> descrevem “coisas”.</a:t>
            </a:r>
          </a:p>
          <a:p>
            <a:pPr lvl="2"/>
            <a:r>
              <a:rPr lang="pt-PT" sz="3000" dirty="0"/>
              <a:t>São uma fonte de referência de </a:t>
            </a:r>
            <a:r>
              <a:rPr lang="pt-PT" sz="3000" b="1" dirty="0">
                <a:solidFill>
                  <a:srgbClr val="00B050"/>
                </a:solidFill>
              </a:rPr>
              <a:t>classes e objetos</a:t>
            </a:r>
            <a:r>
              <a:rPr lang="pt-PT" sz="3000" dirty="0"/>
              <a:t>.</a:t>
            </a:r>
          </a:p>
          <a:p>
            <a:pPr lvl="1"/>
            <a:r>
              <a:rPr lang="pt-PT" sz="3000" dirty="0"/>
              <a:t>Os </a:t>
            </a:r>
            <a:r>
              <a:rPr lang="pt-PT" sz="3000" b="1" dirty="0">
                <a:solidFill>
                  <a:srgbClr val="FF0000"/>
                </a:solidFill>
              </a:rPr>
              <a:t>verbos</a:t>
            </a:r>
            <a:r>
              <a:rPr lang="pt-PT" sz="3000" dirty="0"/>
              <a:t> referem ações.</a:t>
            </a:r>
          </a:p>
          <a:p>
            <a:pPr lvl="2"/>
            <a:r>
              <a:rPr lang="pt-PT" sz="3000" dirty="0"/>
              <a:t>Podem ser a fonte para encontrarmos as </a:t>
            </a:r>
            <a:r>
              <a:rPr lang="pt-PT" sz="3000" b="1" dirty="0">
                <a:solidFill>
                  <a:srgbClr val="FF0000"/>
                </a:solidFill>
              </a:rPr>
              <a:t>interações</a:t>
            </a:r>
            <a:r>
              <a:rPr lang="pt-PT" sz="3000" dirty="0"/>
              <a:t> entre objetos.</a:t>
            </a:r>
          </a:p>
          <a:p>
            <a:pPr lvl="2"/>
            <a:r>
              <a:rPr lang="pt-PT" sz="3000" dirty="0"/>
              <a:t>Como as ações representam comportamentos, logo referem </a:t>
            </a:r>
            <a:r>
              <a:rPr lang="pt-PT" sz="3000" b="1" dirty="0">
                <a:solidFill>
                  <a:srgbClr val="FF0000"/>
                </a:solidFill>
              </a:rPr>
              <a:t>métodos</a:t>
            </a:r>
            <a:r>
              <a:rPr lang="pt-PT" sz="3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10424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Exemplo – Sistema de reservas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7</a:t>
            </a:fld>
            <a:endParaRPr lang="pt-PT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13612" y="861452"/>
            <a:ext cx="8950876" cy="5591884"/>
          </a:xfrm>
        </p:spPr>
        <p:txBody>
          <a:bodyPr/>
          <a:lstStyle/>
          <a:p>
            <a:r>
              <a:rPr lang="pt-PT" sz="3500" b="1" dirty="0">
                <a:solidFill>
                  <a:srgbClr val="C00000"/>
                </a:solidFill>
              </a:rPr>
              <a:t>Verbos</a:t>
            </a:r>
            <a:r>
              <a:rPr lang="pt-PT" sz="3500" dirty="0"/>
              <a:t> e </a:t>
            </a:r>
            <a:r>
              <a:rPr lang="pt-PT" sz="3500" b="1" dirty="0">
                <a:solidFill>
                  <a:srgbClr val="00B050"/>
                </a:solidFill>
              </a:rPr>
              <a:t>substantivos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O sistema de reservas do cinema deve guardar as reservas de lugares para várias salas.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Cada sala tem os lugares dispostos por filas.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Os clientes podem reservar os lugares e ficam com a letra da fila e o número do lugar.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Eles podem solicitar a reserva de vários lugares adjacentes.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Cada reserva é para uma determinada sessão (ou seja a projeção de um dado filme a uma certa hora).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As sessões têm uma data e hora e estão escalonadas para uma determinada sala.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O sistema guarda o número do telefone do cliente. </a:t>
            </a:r>
          </a:p>
        </p:txBody>
      </p:sp>
    </p:spTree>
    <p:extLst>
      <p:ext uri="{BB962C8B-B14F-4D97-AF65-F5344CB8AC3E}">
        <p14:creationId xmlns:p14="http://schemas.microsoft.com/office/powerpoint/2010/main" val="392249858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- Método verbo/substantivo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8</a:t>
            </a:fld>
            <a:endParaRPr lang="pt-PT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13612" y="861452"/>
            <a:ext cx="8950876" cy="5447868"/>
          </a:xfrm>
        </p:spPr>
        <p:txBody>
          <a:bodyPr/>
          <a:lstStyle/>
          <a:p>
            <a:r>
              <a:rPr lang="pt-PT" sz="3500" b="1" dirty="0">
                <a:solidFill>
                  <a:srgbClr val="C00000"/>
                </a:solidFill>
              </a:rPr>
              <a:t>Verbos</a:t>
            </a:r>
            <a:r>
              <a:rPr lang="pt-PT" sz="3500" dirty="0"/>
              <a:t> e </a:t>
            </a:r>
            <a:r>
              <a:rPr lang="pt-PT" sz="3500" b="1" dirty="0">
                <a:solidFill>
                  <a:srgbClr val="00B050"/>
                </a:solidFill>
              </a:rPr>
              <a:t>substantivos</a:t>
            </a:r>
          </a:p>
          <a:p>
            <a:pPr lvl="1">
              <a:spcBef>
                <a:spcPts val="1200"/>
              </a:spcBef>
            </a:pPr>
            <a:r>
              <a:rPr lang="pt-PT" sz="3000" dirty="0"/>
              <a:t>Vamos procurar os </a:t>
            </a:r>
            <a:r>
              <a:rPr lang="pt-PT" sz="3000" b="1" dirty="0">
                <a:solidFill>
                  <a:srgbClr val="00B050"/>
                </a:solidFill>
              </a:rPr>
              <a:t>nomes</a:t>
            </a:r>
            <a:r>
              <a:rPr lang="pt-PT" sz="3000" dirty="0"/>
              <a:t> (os </a:t>
            </a:r>
            <a:r>
              <a:rPr lang="pt-PT" sz="3000" b="1" dirty="0">
                <a:solidFill>
                  <a:srgbClr val="00B050"/>
                </a:solidFill>
              </a:rPr>
              <a:t>substantivos</a:t>
            </a:r>
            <a:r>
              <a:rPr lang="pt-PT" sz="3000" dirty="0"/>
              <a:t>) que nos irão dar uma pista dos objetos e classes envolvidos.</a:t>
            </a:r>
          </a:p>
          <a:p>
            <a:pPr lvl="1">
              <a:spcBef>
                <a:spcPts val="1200"/>
              </a:spcBef>
            </a:pPr>
            <a:r>
              <a:rPr lang="pt-PT" sz="3000" dirty="0"/>
              <a:t>Depois procuramos os </a:t>
            </a:r>
            <a:r>
              <a:rPr lang="pt-PT" sz="3000" b="1" dirty="0">
                <a:solidFill>
                  <a:srgbClr val="C00000"/>
                </a:solidFill>
              </a:rPr>
              <a:t>verbos</a:t>
            </a:r>
            <a:r>
              <a:rPr lang="pt-PT" sz="3000" dirty="0"/>
              <a:t> juntamente com os substantivos a que se referem.</a:t>
            </a:r>
          </a:p>
        </p:txBody>
      </p:sp>
    </p:spTree>
    <p:extLst>
      <p:ext uri="{BB962C8B-B14F-4D97-AF65-F5344CB8AC3E}">
        <p14:creationId xmlns:p14="http://schemas.microsoft.com/office/powerpoint/2010/main" val="144670967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- Método verbo/substantivo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9</a:t>
            </a:fld>
            <a:endParaRPr lang="pt-PT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157627" y="908720"/>
            <a:ext cx="8878869" cy="5447868"/>
          </a:xfrm>
        </p:spPr>
        <p:txBody>
          <a:bodyPr/>
          <a:lstStyle/>
          <a:p>
            <a:r>
              <a:rPr lang="pt-PT" sz="3500" b="1" dirty="0">
                <a:solidFill>
                  <a:srgbClr val="00B050"/>
                </a:solidFill>
              </a:rPr>
              <a:t>Substantivos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O </a:t>
            </a:r>
            <a:r>
              <a:rPr lang="pt-PT" sz="2500" b="1" dirty="0">
                <a:solidFill>
                  <a:srgbClr val="00B050"/>
                </a:solidFill>
              </a:rPr>
              <a:t>sistema de reservas</a:t>
            </a:r>
            <a:r>
              <a:rPr lang="pt-PT" sz="2500" dirty="0">
                <a:solidFill>
                  <a:schemeClr val="tx2"/>
                </a:solidFill>
              </a:rPr>
              <a:t> do </a:t>
            </a:r>
            <a:r>
              <a:rPr lang="pt-PT" sz="2500" b="1" dirty="0">
                <a:solidFill>
                  <a:srgbClr val="00B050"/>
                </a:solidFill>
              </a:rPr>
              <a:t>cinema </a:t>
            </a:r>
            <a:r>
              <a:rPr lang="pt-PT" sz="2500" dirty="0"/>
              <a:t>deve guardar</a:t>
            </a:r>
            <a:r>
              <a:rPr lang="pt-PT" sz="2500" dirty="0">
                <a:solidFill>
                  <a:schemeClr val="tx2"/>
                </a:solidFill>
              </a:rPr>
              <a:t> as </a:t>
            </a:r>
            <a:r>
              <a:rPr lang="pt-PT" sz="2500" b="1" dirty="0">
                <a:solidFill>
                  <a:srgbClr val="00B050"/>
                </a:solidFill>
              </a:rPr>
              <a:t>reservas </a:t>
            </a:r>
            <a:r>
              <a:rPr lang="pt-PT" sz="2500" dirty="0">
                <a:solidFill>
                  <a:schemeClr val="tx2"/>
                </a:solidFill>
              </a:rPr>
              <a:t>de</a:t>
            </a:r>
            <a:r>
              <a:rPr lang="pt-PT" sz="2500" b="1" dirty="0">
                <a:solidFill>
                  <a:srgbClr val="00B050"/>
                </a:solidFill>
              </a:rPr>
              <a:t> lugares </a:t>
            </a:r>
            <a:r>
              <a:rPr lang="pt-PT" sz="2500" dirty="0"/>
              <a:t>para várias </a:t>
            </a:r>
            <a:r>
              <a:rPr lang="pt-PT" sz="2500" b="1" dirty="0">
                <a:solidFill>
                  <a:srgbClr val="00B050"/>
                </a:solidFill>
              </a:rPr>
              <a:t>salas</a:t>
            </a:r>
            <a:r>
              <a:rPr lang="pt-PT" sz="2500" dirty="0"/>
              <a:t>.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Cada </a:t>
            </a:r>
            <a:r>
              <a:rPr lang="pt-PT" sz="2500" b="1" dirty="0">
                <a:solidFill>
                  <a:srgbClr val="00B050"/>
                </a:solidFill>
              </a:rPr>
              <a:t>sala</a:t>
            </a:r>
            <a:r>
              <a:rPr lang="pt-PT" sz="2500" dirty="0"/>
              <a:t> tem os</a:t>
            </a:r>
            <a:r>
              <a:rPr lang="pt-PT" sz="2500" b="1" dirty="0">
                <a:solidFill>
                  <a:srgbClr val="00B050"/>
                </a:solidFill>
              </a:rPr>
              <a:t> lugares </a:t>
            </a:r>
            <a:r>
              <a:rPr lang="pt-PT" sz="2500" dirty="0"/>
              <a:t>dispostos por </a:t>
            </a:r>
            <a:r>
              <a:rPr lang="pt-PT" sz="2500" b="1" dirty="0">
                <a:solidFill>
                  <a:srgbClr val="00B050"/>
                </a:solidFill>
              </a:rPr>
              <a:t>filas</a:t>
            </a:r>
            <a:r>
              <a:rPr lang="pt-PT" sz="2500" dirty="0"/>
              <a:t>.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Os</a:t>
            </a:r>
            <a:r>
              <a:rPr lang="pt-PT" sz="2500" b="1" dirty="0">
                <a:solidFill>
                  <a:srgbClr val="00B050"/>
                </a:solidFill>
              </a:rPr>
              <a:t> clientes </a:t>
            </a:r>
            <a:r>
              <a:rPr lang="pt-PT" sz="2500" dirty="0"/>
              <a:t>podem reservar os </a:t>
            </a:r>
            <a:r>
              <a:rPr lang="pt-PT" sz="2500" b="1" dirty="0">
                <a:solidFill>
                  <a:srgbClr val="00B050"/>
                </a:solidFill>
              </a:rPr>
              <a:t>lugares</a:t>
            </a:r>
            <a:r>
              <a:rPr lang="pt-PT" sz="2500" dirty="0"/>
              <a:t> e ficam com a</a:t>
            </a:r>
            <a:r>
              <a:rPr lang="pt-PT" sz="2500" b="1" dirty="0">
                <a:solidFill>
                  <a:srgbClr val="00B050"/>
                </a:solidFill>
              </a:rPr>
              <a:t> letra </a:t>
            </a:r>
            <a:r>
              <a:rPr lang="pt-PT" sz="2500" dirty="0"/>
              <a:t>da</a:t>
            </a:r>
            <a:r>
              <a:rPr lang="pt-PT" sz="2500" b="1" dirty="0">
                <a:solidFill>
                  <a:srgbClr val="00B050"/>
                </a:solidFill>
              </a:rPr>
              <a:t> fila </a:t>
            </a:r>
            <a:r>
              <a:rPr lang="pt-PT" sz="2500" dirty="0"/>
              <a:t>e o</a:t>
            </a:r>
            <a:r>
              <a:rPr lang="pt-PT" sz="2500" b="1" dirty="0">
                <a:solidFill>
                  <a:srgbClr val="00B050"/>
                </a:solidFill>
              </a:rPr>
              <a:t> número </a:t>
            </a:r>
            <a:r>
              <a:rPr lang="pt-PT" sz="2500" dirty="0"/>
              <a:t>do</a:t>
            </a:r>
            <a:r>
              <a:rPr lang="pt-PT" sz="2500" b="1" dirty="0">
                <a:solidFill>
                  <a:srgbClr val="00B050"/>
                </a:solidFill>
              </a:rPr>
              <a:t> lugar</a:t>
            </a:r>
            <a:r>
              <a:rPr lang="pt-PT" sz="2500" dirty="0"/>
              <a:t>.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Eles podem solicitar a </a:t>
            </a:r>
            <a:r>
              <a:rPr lang="pt-PT" sz="2500" b="1" dirty="0">
                <a:solidFill>
                  <a:srgbClr val="00B050"/>
                </a:solidFill>
              </a:rPr>
              <a:t>reserva</a:t>
            </a:r>
            <a:r>
              <a:rPr lang="pt-PT" sz="2500" dirty="0"/>
              <a:t> de vários </a:t>
            </a:r>
            <a:r>
              <a:rPr lang="pt-PT" sz="2500" b="1" dirty="0">
                <a:solidFill>
                  <a:srgbClr val="00B050"/>
                </a:solidFill>
              </a:rPr>
              <a:t>lugares</a:t>
            </a:r>
            <a:r>
              <a:rPr lang="pt-PT" sz="2500" dirty="0"/>
              <a:t> adjacentes.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Cada </a:t>
            </a:r>
            <a:r>
              <a:rPr lang="pt-PT" sz="2500" b="1" dirty="0">
                <a:solidFill>
                  <a:srgbClr val="00B050"/>
                </a:solidFill>
              </a:rPr>
              <a:t>reserva</a:t>
            </a:r>
            <a:r>
              <a:rPr lang="pt-PT" sz="2500" dirty="0"/>
              <a:t> é para uma determinada </a:t>
            </a:r>
            <a:r>
              <a:rPr lang="pt-PT" sz="2500" b="1" dirty="0">
                <a:solidFill>
                  <a:srgbClr val="00B050"/>
                </a:solidFill>
              </a:rPr>
              <a:t>sessão</a:t>
            </a:r>
            <a:r>
              <a:rPr lang="pt-PT" sz="2500" dirty="0"/>
              <a:t> (ou seja a </a:t>
            </a:r>
            <a:r>
              <a:rPr lang="pt-PT" sz="2500" b="1" dirty="0">
                <a:solidFill>
                  <a:srgbClr val="00B050"/>
                </a:solidFill>
              </a:rPr>
              <a:t>projeção</a:t>
            </a:r>
            <a:r>
              <a:rPr lang="pt-PT" sz="2500" dirty="0"/>
              <a:t> de um dado </a:t>
            </a:r>
            <a:r>
              <a:rPr lang="pt-PT" sz="2500" b="1" dirty="0">
                <a:solidFill>
                  <a:srgbClr val="00B050"/>
                </a:solidFill>
              </a:rPr>
              <a:t>filme</a:t>
            </a:r>
            <a:r>
              <a:rPr lang="pt-PT" sz="2500" dirty="0"/>
              <a:t> a uma certa </a:t>
            </a:r>
            <a:r>
              <a:rPr lang="pt-PT" sz="2500" b="1" dirty="0">
                <a:solidFill>
                  <a:srgbClr val="00B050"/>
                </a:solidFill>
              </a:rPr>
              <a:t>hora</a:t>
            </a:r>
            <a:r>
              <a:rPr lang="pt-PT" sz="2500" dirty="0"/>
              <a:t>).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As </a:t>
            </a:r>
            <a:r>
              <a:rPr lang="pt-PT" sz="2500" b="1" dirty="0">
                <a:solidFill>
                  <a:srgbClr val="00B050"/>
                </a:solidFill>
              </a:rPr>
              <a:t>sessões</a:t>
            </a:r>
            <a:r>
              <a:rPr lang="pt-PT" sz="2500" dirty="0"/>
              <a:t> têm uma </a:t>
            </a:r>
            <a:r>
              <a:rPr lang="pt-PT" sz="2500" b="1" dirty="0">
                <a:solidFill>
                  <a:srgbClr val="00B050"/>
                </a:solidFill>
              </a:rPr>
              <a:t>data</a:t>
            </a:r>
            <a:r>
              <a:rPr lang="pt-PT" sz="2500" dirty="0"/>
              <a:t> e </a:t>
            </a:r>
            <a:r>
              <a:rPr lang="pt-PT" sz="2500" b="1" dirty="0">
                <a:solidFill>
                  <a:srgbClr val="00B050"/>
                </a:solidFill>
              </a:rPr>
              <a:t>hora</a:t>
            </a:r>
            <a:r>
              <a:rPr lang="pt-PT" sz="2500" dirty="0"/>
              <a:t> e estão escalonadas para uma determinada </a:t>
            </a:r>
            <a:r>
              <a:rPr lang="pt-PT" sz="2500" b="1" dirty="0">
                <a:solidFill>
                  <a:srgbClr val="00B050"/>
                </a:solidFill>
              </a:rPr>
              <a:t>sala</a:t>
            </a:r>
            <a:r>
              <a:rPr lang="pt-PT" sz="2500" dirty="0"/>
              <a:t>.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O </a:t>
            </a:r>
            <a:r>
              <a:rPr lang="pt-PT" sz="2500" b="1" dirty="0">
                <a:solidFill>
                  <a:srgbClr val="00B050"/>
                </a:solidFill>
              </a:rPr>
              <a:t>sistema</a:t>
            </a:r>
            <a:r>
              <a:rPr lang="pt-PT" sz="2500" dirty="0"/>
              <a:t> guarda o </a:t>
            </a:r>
            <a:r>
              <a:rPr lang="pt-PT" sz="2500" b="1" dirty="0">
                <a:solidFill>
                  <a:srgbClr val="00B050"/>
                </a:solidFill>
              </a:rPr>
              <a:t>número</a:t>
            </a:r>
            <a:r>
              <a:rPr lang="pt-PT" sz="2500" dirty="0"/>
              <a:t> do </a:t>
            </a:r>
            <a:r>
              <a:rPr lang="pt-PT" sz="2500" b="1" dirty="0">
                <a:solidFill>
                  <a:srgbClr val="00B050"/>
                </a:solidFill>
              </a:rPr>
              <a:t>telefone</a:t>
            </a:r>
            <a:r>
              <a:rPr lang="pt-PT" sz="2500" dirty="0"/>
              <a:t> do cliente. </a:t>
            </a:r>
            <a:endParaRPr lang="pt-PT" sz="2400" dirty="0"/>
          </a:p>
          <a:p>
            <a:pPr marL="0" indent="0">
              <a:buNone/>
            </a:pPr>
            <a:endParaRPr lang="pt-PT" sz="2400" dirty="0"/>
          </a:p>
          <a:p>
            <a:pPr lvl="1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9959313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- Método verbo/substantivo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10</a:t>
            </a:fld>
            <a:endParaRPr lang="pt-PT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157628" y="908720"/>
            <a:ext cx="8878868" cy="5519876"/>
          </a:xfrm>
        </p:spPr>
        <p:txBody>
          <a:bodyPr/>
          <a:lstStyle/>
          <a:p>
            <a:r>
              <a:rPr lang="pt-PT" sz="3500" b="1" dirty="0">
                <a:solidFill>
                  <a:srgbClr val="C00000"/>
                </a:solidFill>
              </a:rPr>
              <a:t>Verbos</a:t>
            </a:r>
            <a:r>
              <a:rPr lang="pt-PT" sz="3500" dirty="0"/>
              <a:t> e </a:t>
            </a:r>
            <a:r>
              <a:rPr lang="pt-PT" sz="3500" b="1" dirty="0">
                <a:solidFill>
                  <a:srgbClr val="00B050"/>
                </a:solidFill>
              </a:rPr>
              <a:t>substantivos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O </a:t>
            </a:r>
            <a:r>
              <a:rPr lang="pt-PT" sz="2500" b="1" dirty="0">
                <a:solidFill>
                  <a:srgbClr val="00B050"/>
                </a:solidFill>
              </a:rPr>
              <a:t>sistema de reservas</a:t>
            </a:r>
            <a:r>
              <a:rPr lang="pt-PT" sz="2500" dirty="0">
                <a:solidFill>
                  <a:schemeClr val="tx2"/>
                </a:solidFill>
              </a:rPr>
              <a:t> do </a:t>
            </a:r>
            <a:r>
              <a:rPr lang="pt-PT" sz="2500" b="1" dirty="0">
                <a:solidFill>
                  <a:srgbClr val="00B050"/>
                </a:solidFill>
              </a:rPr>
              <a:t>cinema </a:t>
            </a:r>
            <a:r>
              <a:rPr lang="pt-PT" sz="2500" dirty="0"/>
              <a:t>deve </a:t>
            </a:r>
            <a:r>
              <a:rPr lang="pt-PT" sz="2500" b="1" dirty="0">
                <a:solidFill>
                  <a:srgbClr val="C00000"/>
                </a:solidFill>
              </a:rPr>
              <a:t>guardar</a:t>
            </a:r>
            <a:r>
              <a:rPr lang="pt-PT" sz="2500" dirty="0">
                <a:solidFill>
                  <a:schemeClr val="tx2"/>
                </a:solidFill>
              </a:rPr>
              <a:t> as </a:t>
            </a:r>
            <a:r>
              <a:rPr lang="pt-PT" sz="2500" b="1" dirty="0">
                <a:solidFill>
                  <a:srgbClr val="00B050"/>
                </a:solidFill>
              </a:rPr>
              <a:t>reservas </a:t>
            </a:r>
            <a:r>
              <a:rPr lang="pt-PT" sz="2500" dirty="0">
                <a:solidFill>
                  <a:schemeClr val="tx2"/>
                </a:solidFill>
              </a:rPr>
              <a:t>de</a:t>
            </a:r>
            <a:r>
              <a:rPr lang="pt-PT" sz="2500" b="1" dirty="0">
                <a:solidFill>
                  <a:srgbClr val="00B050"/>
                </a:solidFill>
              </a:rPr>
              <a:t> lugares </a:t>
            </a:r>
            <a:r>
              <a:rPr lang="pt-PT" sz="2500" dirty="0"/>
              <a:t>para várias </a:t>
            </a:r>
            <a:r>
              <a:rPr lang="pt-PT" sz="2500" b="1" dirty="0">
                <a:solidFill>
                  <a:srgbClr val="00B050"/>
                </a:solidFill>
              </a:rPr>
              <a:t>salas</a:t>
            </a:r>
            <a:r>
              <a:rPr lang="pt-PT" sz="2500" dirty="0"/>
              <a:t>.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Cada </a:t>
            </a:r>
            <a:r>
              <a:rPr lang="pt-PT" sz="2500" b="1" dirty="0">
                <a:solidFill>
                  <a:srgbClr val="00B050"/>
                </a:solidFill>
              </a:rPr>
              <a:t>sala</a:t>
            </a:r>
            <a:r>
              <a:rPr lang="pt-PT" sz="2500" dirty="0"/>
              <a:t> </a:t>
            </a:r>
            <a:r>
              <a:rPr lang="pt-PT" sz="2500" b="1" dirty="0">
                <a:solidFill>
                  <a:srgbClr val="C00000"/>
                </a:solidFill>
              </a:rPr>
              <a:t>tem</a:t>
            </a:r>
            <a:r>
              <a:rPr lang="pt-PT" sz="2500" dirty="0"/>
              <a:t> os</a:t>
            </a:r>
            <a:r>
              <a:rPr lang="pt-PT" sz="2500" b="1" dirty="0">
                <a:solidFill>
                  <a:srgbClr val="00B050"/>
                </a:solidFill>
              </a:rPr>
              <a:t> lugares </a:t>
            </a:r>
            <a:r>
              <a:rPr lang="pt-PT" sz="2500" dirty="0"/>
              <a:t>dispostos por </a:t>
            </a:r>
            <a:r>
              <a:rPr lang="pt-PT" sz="2500" b="1" dirty="0">
                <a:solidFill>
                  <a:srgbClr val="00B050"/>
                </a:solidFill>
              </a:rPr>
              <a:t>filas</a:t>
            </a:r>
            <a:r>
              <a:rPr lang="pt-PT" sz="2500" dirty="0"/>
              <a:t>.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Os</a:t>
            </a:r>
            <a:r>
              <a:rPr lang="pt-PT" sz="2500" b="1" dirty="0">
                <a:solidFill>
                  <a:srgbClr val="00B050"/>
                </a:solidFill>
              </a:rPr>
              <a:t> clientes </a:t>
            </a:r>
            <a:r>
              <a:rPr lang="pt-PT" sz="2500" dirty="0"/>
              <a:t>podem </a:t>
            </a:r>
            <a:r>
              <a:rPr lang="pt-PT" sz="2500" b="1" dirty="0">
                <a:solidFill>
                  <a:srgbClr val="C00000"/>
                </a:solidFill>
              </a:rPr>
              <a:t>reservar</a:t>
            </a:r>
            <a:r>
              <a:rPr lang="pt-PT" sz="2500" dirty="0"/>
              <a:t> os </a:t>
            </a:r>
            <a:r>
              <a:rPr lang="pt-PT" sz="2500" b="1" dirty="0">
                <a:solidFill>
                  <a:srgbClr val="00B050"/>
                </a:solidFill>
              </a:rPr>
              <a:t>lugares</a:t>
            </a:r>
            <a:r>
              <a:rPr lang="pt-PT" sz="2500" dirty="0"/>
              <a:t> e </a:t>
            </a:r>
            <a:r>
              <a:rPr lang="pt-PT" sz="2500" b="1" dirty="0">
                <a:solidFill>
                  <a:srgbClr val="C00000"/>
                </a:solidFill>
              </a:rPr>
              <a:t>ficam</a:t>
            </a:r>
            <a:r>
              <a:rPr lang="pt-PT" sz="2500" dirty="0"/>
              <a:t> com a</a:t>
            </a:r>
            <a:r>
              <a:rPr lang="pt-PT" sz="2500" b="1" dirty="0">
                <a:solidFill>
                  <a:srgbClr val="00B050"/>
                </a:solidFill>
              </a:rPr>
              <a:t> letra </a:t>
            </a:r>
            <a:r>
              <a:rPr lang="pt-PT" sz="2500" dirty="0"/>
              <a:t>da</a:t>
            </a:r>
            <a:r>
              <a:rPr lang="pt-PT" sz="2500" b="1" dirty="0">
                <a:solidFill>
                  <a:srgbClr val="00B050"/>
                </a:solidFill>
              </a:rPr>
              <a:t> fila </a:t>
            </a:r>
            <a:r>
              <a:rPr lang="pt-PT" sz="2500" dirty="0"/>
              <a:t>e o</a:t>
            </a:r>
            <a:r>
              <a:rPr lang="pt-PT" sz="2500" b="1" dirty="0">
                <a:solidFill>
                  <a:srgbClr val="00B050"/>
                </a:solidFill>
              </a:rPr>
              <a:t> número </a:t>
            </a:r>
            <a:r>
              <a:rPr lang="pt-PT" sz="2500" dirty="0"/>
              <a:t>do</a:t>
            </a:r>
            <a:r>
              <a:rPr lang="pt-PT" sz="2500" b="1" dirty="0">
                <a:solidFill>
                  <a:srgbClr val="00B050"/>
                </a:solidFill>
              </a:rPr>
              <a:t> lugar</a:t>
            </a:r>
            <a:r>
              <a:rPr lang="pt-PT" sz="2500" dirty="0"/>
              <a:t>.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Eles podem </a:t>
            </a:r>
            <a:r>
              <a:rPr lang="pt-PT" sz="2500" b="1" dirty="0">
                <a:solidFill>
                  <a:srgbClr val="C00000"/>
                </a:solidFill>
              </a:rPr>
              <a:t>solicitar</a:t>
            </a:r>
            <a:r>
              <a:rPr lang="pt-PT" sz="2500" dirty="0"/>
              <a:t> a </a:t>
            </a:r>
            <a:r>
              <a:rPr lang="pt-PT" sz="2500" b="1" dirty="0">
                <a:solidFill>
                  <a:srgbClr val="00B050"/>
                </a:solidFill>
              </a:rPr>
              <a:t>reserva</a:t>
            </a:r>
            <a:r>
              <a:rPr lang="pt-PT" sz="2500" dirty="0"/>
              <a:t> de vários </a:t>
            </a:r>
            <a:r>
              <a:rPr lang="pt-PT" sz="2500" b="1" dirty="0">
                <a:solidFill>
                  <a:srgbClr val="00B050"/>
                </a:solidFill>
              </a:rPr>
              <a:t>lugares</a:t>
            </a:r>
            <a:r>
              <a:rPr lang="pt-PT" sz="2500" dirty="0"/>
              <a:t> adjacentes.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Cada </a:t>
            </a:r>
            <a:r>
              <a:rPr lang="pt-PT" sz="2500" b="1" dirty="0">
                <a:solidFill>
                  <a:srgbClr val="00B050"/>
                </a:solidFill>
              </a:rPr>
              <a:t>reserva</a:t>
            </a:r>
            <a:r>
              <a:rPr lang="pt-PT" sz="2500" dirty="0"/>
              <a:t> </a:t>
            </a:r>
            <a:r>
              <a:rPr lang="pt-PT" sz="2500" b="1" dirty="0">
                <a:solidFill>
                  <a:srgbClr val="C00000"/>
                </a:solidFill>
              </a:rPr>
              <a:t>é</a:t>
            </a:r>
            <a:r>
              <a:rPr lang="pt-PT" sz="2500" dirty="0"/>
              <a:t> para uma determinada </a:t>
            </a:r>
            <a:r>
              <a:rPr lang="pt-PT" sz="2500" b="1" dirty="0">
                <a:solidFill>
                  <a:srgbClr val="00B050"/>
                </a:solidFill>
              </a:rPr>
              <a:t>sessão</a:t>
            </a:r>
            <a:r>
              <a:rPr lang="pt-PT" sz="2500" dirty="0"/>
              <a:t> (ou seja a </a:t>
            </a:r>
            <a:r>
              <a:rPr lang="pt-PT" sz="2500" b="1" dirty="0">
                <a:solidFill>
                  <a:srgbClr val="00B050"/>
                </a:solidFill>
              </a:rPr>
              <a:t>projeção</a:t>
            </a:r>
            <a:r>
              <a:rPr lang="pt-PT" sz="2500" dirty="0"/>
              <a:t> de um dado </a:t>
            </a:r>
            <a:r>
              <a:rPr lang="pt-PT" sz="2500" b="1" dirty="0">
                <a:solidFill>
                  <a:srgbClr val="00B050"/>
                </a:solidFill>
              </a:rPr>
              <a:t>filme</a:t>
            </a:r>
            <a:r>
              <a:rPr lang="pt-PT" sz="2500" dirty="0"/>
              <a:t> a uma certa </a:t>
            </a:r>
            <a:r>
              <a:rPr lang="pt-PT" sz="2500" b="1" dirty="0">
                <a:solidFill>
                  <a:srgbClr val="00B050"/>
                </a:solidFill>
              </a:rPr>
              <a:t>hora</a:t>
            </a:r>
            <a:r>
              <a:rPr lang="pt-PT" sz="2500" dirty="0"/>
              <a:t>).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As </a:t>
            </a:r>
            <a:r>
              <a:rPr lang="pt-PT" sz="2500" b="1" dirty="0">
                <a:solidFill>
                  <a:srgbClr val="00B050"/>
                </a:solidFill>
              </a:rPr>
              <a:t>sessões</a:t>
            </a:r>
            <a:r>
              <a:rPr lang="pt-PT" sz="2500" dirty="0"/>
              <a:t> </a:t>
            </a:r>
            <a:r>
              <a:rPr lang="pt-PT" sz="2500" b="1" dirty="0">
                <a:solidFill>
                  <a:srgbClr val="C00000"/>
                </a:solidFill>
              </a:rPr>
              <a:t>têm</a:t>
            </a:r>
            <a:r>
              <a:rPr lang="pt-PT" sz="2500" dirty="0"/>
              <a:t> uma </a:t>
            </a:r>
            <a:r>
              <a:rPr lang="pt-PT" sz="2500" b="1" dirty="0">
                <a:solidFill>
                  <a:srgbClr val="00B050"/>
                </a:solidFill>
              </a:rPr>
              <a:t>data</a:t>
            </a:r>
            <a:r>
              <a:rPr lang="pt-PT" sz="2500" dirty="0"/>
              <a:t> e </a:t>
            </a:r>
            <a:r>
              <a:rPr lang="pt-PT" sz="2500" b="1" dirty="0">
                <a:solidFill>
                  <a:srgbClr val="00B050"/>
                </a:solidFill>
              </a:rPr>
              <a:t>hora</a:t>
            </a:r>
            <a:r>
              <a:rPr lang="pt-PT" sz="2500" dirty="0"/>
              <a:t> e </a:t>
            </a:r>
            <a:r>
              <a:rPr lang="pt-PT" sz="2500" b="1" dirty="0">
                <a:solidFill>
                  <a:srgbClr val="C00000"/>
                </a:solidFill>
              </a:rPr>
              <a:t>estão</a:t>
            </a:r>
            <a:r>
              <a:rPr lang="pt-PT" sz="2500" dirty="0"/>
              <a:t> escalonadas para uma determinada </a:t>
            </a:r>
            <a:r>
              <a:rPr lang="pt-PT" sz="2500" b="1" dirty="0">
                <a:solidFill>
                  <a:srgbClr val="00B050"/>
                </a:solidFill>
              </a:rPr>
              <a:t>sala</a:t>
            </a:r>
            <a:r>
              <a:rPr lang="pt-PT" sz="2500" dirty="0"/>
              <a:t>.</a:t>
            </a:r>
          </a:p>
          <a:p>
            <a:pPr lvl="1">
              <a:lnSpc>
                <a:spcPct val="100000"/>
              </a:lnSpc>
              <a:spcBef>
                <a:spcPts val="500"/>
              </a:spcBef>
            </a:pPr>
            <a:r>
              <a:rPr lang="pt-PT" sz="2500" dirty="0"/>
              <a:t>O </a:t>
            </a:r>
            <a:r>
              <a:rPr lang="pt-PT" sz="2500" b="1" dirty="0">
                <a:solidFill>
                  <a:srgbClr val="00B050"/>
                </a:solidFill>
              </a:rPr>
              <a:t>sistema</a:t>
            </a:r>
            <a:r>
              <a:rPr lang="pt-PT" sz="2500" dirty="0"/>
              <a:t> </a:t>
            </a:r>
            <a:r>
              <a:rPr lang="pt-PT" sz="2500" b="1" dirty="0">
                <a:solidFill>
                  <a:srgbClr val="C00000"/>
                </a:solidFill>
              </a:rPr>
              <a:t>guarda</a:t>
            </a:r>
            <a:r>
              <a:rPr lang="pt-PT" sz="2500" dirty="0"/>
              <a:t> o </a:t>
            </a:r>
            <a:r>
              <a:rPr lang="pt-PT" sz="2500" b="1" dirty="0">
                <a:solidFill>
                  <a:srgbClr val="00B050"/>
                </a:solidFill>
              </a:rPr>
              <a:t>número</a:t>
            </a:r>
            <a:r>
              <a:rPr lang="pt-PT" sz="2500" dirty="0"/>
              <a:t> do </a:t>
            </a:r>
            <a:r>
              <a:rPr lang="pt-PT" sz="2500" b="1" dirty="0">
                <a:solidFill>
                  <a:srgbClr val="00B050"/>
                </a:solidFill>
              </a:rPr>
              <a:t>telefone</a:t>
            </a:r>
            <a:r>
              <a:rPr lang="pt-PT" sz="2500" dirty="0"/>
              <a:t> do cliente.</a:t>
            </a:r>
          </a:p>
        </p:txBody>
      </p:sp>
    </p:spTree>
    <p:extLst>
      <p:ext uri="{BB962C8B-B14F-4D97-AF65-F5344CB8AC3E}">
        <p14:creationId xmlns:p14="http://schemas.microsoft.com/office/powerpoint/2010/main" val="399716330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- Método verbo/substantivo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11</a:t>
            </a:fld>
            <a:endParaRPr lang="pt-PT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13612" y="861452"/>
            <a:ext cx="8302804" cy="551324"/>
          </a:xfrm>
        </p:spPr>
        <p:txBody>
          <a:bodyPr/>
          <a:lstStyle/>
          <a:p>
            <a:r>
              <a:rPr lang="pt-PT" sz="2400" b="1" dirty="0">
                <a:solidFill>
                  <a:srgbClr val="C00000"/>
                </a:solidFill>
              </a:rPr>
              <a:t>Verbos</a:t>
            </a:r>
            <a:r>
              <a:rPr lang="pt-PT" sz="2400" dirty="0"/>
              <a:t> e </a:t>
            </a:r>
            <a:r>
              <a:rPr lang="pt-PT" sz="2400" b="1" dirty="0">
                <a:solidFill>
                  <a:srgbClr val="00B050"/>
                </a:solidFill>
              </a:rPr>
              <a:t>substantivos</a:t>
            </a:r>
            <a:endParaRPr lang="pt-PT" sz="2400" dirty="0"/>
          </a:p>
          <a:p>
            <a:pPr lvl="1"/>
            <a:endParaRPr lang="pt-PT" dirty="0"/>
          </a:p>
          <a:p>
            <a:pPr marL="33337" indent="0">
              <a:buNone/>
            </a:pPr>
            <a:endParaRPr lang="pt-PT" sz="2400" dirty="0"/>
          </a:p>
          <a:p>
            <a:pPr marL="0" indent="0">
              <a:buNone/>
            </a:pPr>
            <a:endParaRPr lang="pt-PT" sz="2400" dirty="0"/>
          </a:p>
          <a:p>
            <a:pPr lvl="1"/>
            <a:endParaRPr lang="pt-PT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467544" y="1772816"/>
            <a:ext cx="3312368" cy="9233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pt-PT" sz="1800" b="1" dirty="0">
                <a:solidFill>
                  <a:srgbClr val="00B050"/>
                </a:solidFill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  <a:t>Sistema de reservas</a:t>
            </a:r>
          </a:p>
          <a:p>
            <a:pPr>
              <a:defRPr/>
            </a:pPr>
            <a:r>
              <a:rPr lang="pt-PT" sz="1800" b="0" dirty="0">
                <a:solidFill>
                  <a:srgbClr val="C00000"/>
                </a:solidFill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  <a:t>Guarda</a:t>
            </a:r>
            <a:r>
              <a:rPr lang="pt-PT" sz="1800" b="0" dirty="0"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  <a:t> (reserva de lugares)</a:t>
            </a:r>
          </a:p>
          <a:p>
            <a:pPr>
              <a:defRPr/>
            </a:pPr>
            <a:r>
              <a:rPr lang="pt-PT" dirty="0">
                <a:solidFill>
                  <a:srgbClr val="C00000"/>
                </a:solidFill>
                <a:latin typeface="Tw Cen MT" panose="020B0602020104020603" pitchFamily="34" charset="0"/>
                <a:ea typeface="ＭＳ Ｐゴシック" charset="0"/>
              </a:rPr>
              <a:t>Guarda</a:t>
            </a:r>
            <a:r>
              <a:rPr lang="pt-PT" sz="1800" b="0" dirty="0"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  <a:t> (</a:t>
            </a:r>
            <a:r>
              <a:rPr lang="pt-PT" dirty="0"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  <a:t>número telefone</a:t>
            </a:r>
            <a:r>
              <a:rPr lang="pt-PT" sz="1800" b="0" dirty="0"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  <a:t>)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191944" y="3906416"/>
            <a:ext cx="2188368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pt-PT" b="1" dirty="0">
                <a:solidFill>
                  <a:srgbClr val="00B050"/>
                </a:solidFill>
                <a:latin typeface="Tw Cen MT" panose="020B0602020104020603" pitchFamily="34" charset="0"/>
                <a:ea typeface="ＭＳ Ｐゴシック" charset="0"/>
              </a:rPr>
              <a:t>Reserva de lugar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444232" y="1772816"/>
            <a:ext cx="1855960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pt-PT" b="1" dirty="0">
                <a:solidFill>
                  <a:srgbClr val="00B050"/>
                </a:solidFill>
                <a:latin typeface="Tw Cen MT" panose="020B0602020104020603" pitchFamily="34" charset="0"/>
                <a:ea typeface="ＭＳ Ｐゴシック" charset="0"/>
              </a:rPr>
              <a:t>Sala</a:t>
            </a:r>
          </a:p>
          <a:p>
            <a:pPr>
              <a:defRPr/>
            </a:pPr>
            <a:r>
              <a:rPr lang="pt-PT" dirty="0">
                <a:solidFill>
                  <a:srgbClr val="C00000"/>
                </a:solidFill>
                <a:latin typeface="Tw Cen MT" panose="020B0602020104020603" pitchFamily="34" charset="0"/>
                <a:ea typeface="ＭＳ Ｐゴシック" charset="0"/>
              </a:rPr>
              <a:t>Tem</a:t>
            </a:r>
            <a:r>
              <a:rPr lang="pt-PT" sz="1800" b="0" dirty="0"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  <a:t> (lugares)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5191944" y="4592216"/>
            <a:ext cx="72006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b="1" dirty="0">
                <a:solidFill>
                  <a:srgbClr val="00B050"/>
                </a:solidFill>
                <a:latin typeface="Tw Cen MT" panose="020B0602020104020603" pitchFamily="34" charset="0"/>
                <a:ea typeface="ＭＳ Ｐゴシック" charset="0"/>
              </a:rPr>
              <a:t>Lugar</a:t>
            </a: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5191944" y="5511379"/>
            <a:ext cx="535724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b="1" dirty="0">
                <a:solidFill>
                  <a:srgbClr val="00B050"/>
                </a:solidFill>
                <a:latin typeface="Tw Cen MT" panose="020B0602020104020603" pitchFamily="34" charset="0"/>
                <a:ea typeface="ＭＳ Ｐゴシック" charset="0"/>
              </a:rPr>
              <a:t>Fila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467544" y="3068216"/>
            <a:ext cx="4229975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pt-PT" b="1" dirty="0">
                <a:solidFill>
                  <a:srgbClr val="00B050"/>
                </a:solidFill>
                <a:latin typeface="Tw Cen MT" panose="020B0602020104020603" pitchFamily="34" charset="0"/>
                <a:ea typeface="ＭＳ Ｐゴシック" charset="0"/>
              </a:rPr>
              <a:t>Cliente</a:t>
            </a:r>
          </a:p>
          <a:p>
            <a:pPr>
              <a:defRPr/>
            </a:pPr>
            <a:r>
              <a:rPr lang="pt-PT" dirty="0">
                <a:solidFill>
                  <a:srgbClr val="C00000"/>
                </a:solidFill>
                <a:latin typeface="Tw Cen MT" panose="020B0602020104020603" pitchFamily="34" charset="0"/>
                <a:ea typeface="ＭＳ Ｐゴシック" charset="0"/>
              </a:rPr>
              <a:t>Reserva</a:t>
            </a:r>
            <a:r>
              <a:rPr lang="pt-PT" sz="1800" b="0" dirty="0"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  <a:t> (lugares)</a:t>
            </a:r>
          </a:p>
          <a:p>
            <a:pPr>
              <a:defRPr/>
            </a:pPr>
            <a:r>
              <a:rPr lang="pt-PT" dirty="0">
                <a:solidFill>
                  <a:srgbClr val="C00000"/>
                </a:solidFill>
                <a:latin typeface="Tw Cen MT" panose="020B0602020104020603" pitchFamily="34" charset="0"/>
                <a:ea typeface="ＭＳ Ｐゴシック" charset="0"/>
              </a:rPr>
              <a:t>Ficam com </a:t>
            </a:r>
            <a:r>
              <a:rPr lang="pt-PT" sz="1800" b="0" dirty="0"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  <a:t>(letra fila, número lugar)</a:t>
            </a:r>
          </a:p>
          <a:p>
            <a:pPr>
              <a:defRPr/>
            </a:pPr>
            <a:r>
              <a:rPr lang="pt-PT" dirty="0">
                <a:solidFill>
                  <a:srgbClr val="C00000"/>
                </a:solidFill>
                <a:latin typeface="Tw Cen MT" panose="020B0602020104020603" pitchFamily="34" charset="0"/>
                <a:ea typeface="ＭＳ Ｐゴシック" charset="0"/>
              </a:rPr>
              <a:t>Solicitam</a:t>
            </a:r>
            <a:r>
              <a:rPr lang="pt-PT" sz="1800" b="0" dirty="0"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  <a:t> (reserva de lugar)</a:t>
            </a: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6334944" y="5511379"/>
            <a:ext cx="1909464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pt-PT" b="1" dirty="0">
                <a:solidFill>
                  <a:srgbClr val="00B050"/>
                </a:solidFill>
                <a:latin typeface="Tw Cen MT" panose="020B0602020104020603" pitchFamily="34" charset="0"/>
                <a:ea typeface="ＭＳ Ｐゴシック" charset="0"/>
              </a:rPr>
              <a:t>Letra da fila</a:t>
            </a: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6334944" y="4592216"/>
            <a:ext cx="2197496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pt-PT" b="1" dirty="0">
                <a:solidFill>
                  <a:srgbClr val="00B050"/>
                </a:solidFill>
                <a:latin typeface="Tw Cen MT" panose="020B0602020104020603" pitchFamily="34" charset="0"/>
                <a:ea typeface="ＭＳ Ｐゴシック" charset="0"/>
              </a:rPr>
              <a:t>Número do lugar</a:t>
            </a: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67544" y="4592216"/>
            <a:ext cx="3096344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pt-PT" b="1" dirty="0">
                <a:solidFill>
                  <a:srgbClr val="00B050"/>
                </a:solidFill>
                <a:latin typeface="Tw Cen MT" panose="020B0602020104020603" pitchFamily="34" charset="0"/>
                <a:ea typeface="ＭＳ Ｐゴシック" charset="0"/>
              </a:rPr>
              <a:t>Sessão</a:t>
            </a:r>
          </a:p>
          <a:p>
            <a:pPr>
              <a:defRPr/>
            </a:pPr>
            <a:r>
              <a:rPr lang="pt-PT" dirty="0">
                <a:solidFill>
                  <a:srgbClr val="C00000"/>
                </a:solidFill>
                <a:latin typeface="Tw Cen MT" panose="020B0602020104020603" pitchFamily="34" charset="0"/>
                <a:ea typeface="ＭＳ Ｐゴシック" charset="0"/>
              </a:rPr>
              <a:t>Escalonada para </a:t>
            </a:r>
            <a:r>
              <a:rPr lang="pt-PT" sz="1800" b="0" dirty="0"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  <a:t>(sala)</a:t>
            </a: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6334944" y="1772816"/>
            <a:ext cx="707245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b="1" dirty="0">
                <a:solidFill>
                  <a:srgbClr val="00B050"/>
                </a:solidFill>
                <a:latin typeface="Tw Cen MT" panose="020B0602020104020603" pitchFamily="34" charset="0"/>
                <a:ea typeface="ＭＳ Ｐゴシック" charset="0"/>
              </a:rPr>
              <a:t>Filme</a:t>
            </a: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6334944" y="3068216"/>
            <a:ext cx="638123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b="1" dirty="0">
                <a:solidFill>
                  <a:srgbClr val="00B050"/>
                </a:solidFill>
                <a:latin typeface="Tw Cen MT" panose="020B0602020104020603" pitchFamily="34" charset="0"/>
                <a:ea typeface="ＭＳ Ｐゴシック" charset="0"/>
              </a:rPr>
              <a:t>Data</a:t>
            </a: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5191944" y="3068216"/>
            <a:ext cx="648575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b="1" dirty="0">
                <a:solidFill>
                  <a:srgbClr val="00B050"/>
                </a:solidFill>
                <a:latin typeface="Tw Cen MT" panose="020B0602020104020603" pitchFamily="34" charset="0"/>
                <a:ea typeface="ＭＳ Ｐゴシック" charset="0"/>
              </a:rPr>
              <a:t>Hora</a:t>
            </a:r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467544" y="5511379"/>
            <a:ext cx="2592288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pt-PT" b="1" dirty="0">
                <a:solidFill>
                  <a:srgbClr val="00B050"/>
                </a:solidFill>
                <a:latin typeface="Tw Cen MT" panose="020B0602020104020603" pitchFamily="34" charset="0"/>
                <a:ea typeface="ＭＳ Ｐゴシック" charset="0"/>
              </a:rPr>
              <a:t>Número telefone</a:t>
            </a:r>
          </a:p>
        </p:txBody>
      </p:sp>
    </p:spTree>
    <p:extLst>
      <p:ext uri="{BB962C8B-B14F-4D97-AF65-F5344CB8AC3E}">
        <p14:creationId xmlns:p14="http://schemas.microsoft.com/office/powerpoint/2010/main" val="241395113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– Cartas CRC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12</a:t>
            </a:fld>
            <a:endParaRPr lang="pt-PT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517667" y="933460"/>
            <a:ext cx="8374813" cy="5231844"/>
          </a:xfrm>
        </p:spPr>
        <p:txBody>
          <a:bodyPr/>
          <a:lstStyle/>
          <a:p>
            <a:r>
              <a:rPr lang="pt-PT" sz="3500" dirty="0"/>
              <a:t>Cartas </a:t>
            </a:r>
            <a:r>
              <a:rPr lang="pt-PT" sz="3500" b="1" dirty="0">
                <a:solidFill>
                  <a:srgbClr val="FF0000"/>
                </a:solidFill>
              </a:rPr>
              <a:t>CRC</a:t>
            </a:r>
          </a:p>
          <a:p>
            <a:pPr lvl="1">
              <a:spcBef>
                <a:spcPts val="1200"/>
              </a:spcBef>
            </a:pPr>
            <a:r>
              <a:rPr lang="pt-PT" sz="2500" dirty="0"/>
              <a:t>CRC significa:</a:t>
            </a:r>
          </a:p>
          <a:p>
            <a:pPr lvl="2">
              <a:spcBef>
                <a:spcPts val="1200"/>
              </a:spcBef>
            </a:pPr>
            <a:r>
              <a:rPr lang="pt-PT" sz="2500" b="1" dirty="0">
                <a:solidFill>
                  <a:srgbClr val="FF0000"/>
                </a:solidFill>
              </a:rPr>
              <a:t>C</a:t>
            </a:r>
            <a:r>
              <a:rPr lang="pt-PT" sz="2500" dirty="0"/>
              <a:t> – </a:t>
            </a:r>
            <a:r>
              <a:rPr lang="pt-PT" sz="2500" b="1" dirty="0"/>
              <a:t>Classes</a:t>
            </a:r>
          </a:p>
          <a:p>
            <a:pPr lvl="2">
              <a:spcBef>
                <a:spcPts val="1200"/>
              </a:spcBef>
            </a:pPr>
            <a:r>
              <a:rPr lang="pt-PT" sz="2500" b="1" dirty="0">
                <a:solidFill>
                  <a:srgbClr val="FF0000"/>
                </a:solidFill>
              </a:rPr>
              <a:t>R </a:t>
            </a:r>
            <a:r>
              <a:rPr lang="pt-PT" sz="2500" dirty="0"/>
              <a:t>– </a:t>
            </a:r>
            <a:r>
              <a:rPr lang="pt-PT" sz="2500" b="1" dirty="0"/>
              <a:t>Responsabilidades</a:t>
            </a:r>
          </a:p>
          <a:p>
            <a:pPr lvl="2">
              <a:spcBef>
                <a:spcPts val="1200"/>
              </a:spcBef>
            </a:pPr>
            <a:r>
              <a:rPr lang="pt-PT" sz="2500" b="1" dirty="0">
                <a:solidFill>
                  <a:srgbClr val="FF0000"/>
                </a:solidFill>
              </a:rPr>
              <a:t>C</a:t>
            </a:r>
            <a:r>
              <a:rPr lang="pt-PT" sz="2500" dirty="0"/>
              <a:t> - </a:t>
            </a:r>
            <a:r>
              <a:rPr lang="pt-PT" sz="2500" b="1" dirty="0"/>
              <a:t>Colaboradores </a:t>
            </a:r>
          </a:p>
          <a:p>
            <a:pPr lvl="1"/>
            <a:r>
              <a:rPr lang="pt-PT" sz="2500" dirty="0"/>
              <a:t>Utilizam-se cartas reais divididas em áreas para cada um dos componentes identificados.</a:t>
            </a:r>
          </a:p>
          <a:p>
            <a:pPr lvl="1"/>
            <a:r>
              <a:rPr lang="pt-PT" sz="2500" dirty="0"/>
              <a:t>Este método foi inicialmente descrito por </a:t>
            </a:r>
            <a:r>
              <a:rPr lang="pt-PT" sz="2500" dirty="0" err="1"/>
              <a:t>Kent</a:t>
            </a:r>
            <a:r>
              <a:rPr lang="pt-PT" sz="2500" dirty="0"/>
              <a:t> </a:t>
            </a:r>
            <a:r>
              <a:rPr lang="pt-PT" sz="2500" dirty="0" err="1"/>
              <a:t>Beck</a:t>
            </a:r>
            <a:r>
              <a:rPr lang="pt-PT" sz="2500" dirty="0"/>
              <a:t> e </a:t>
            </a:r>
            <a:r>
              <a:rPr lang="pt-PT" sz="2500" dirty="0" err="1"/>
              <a:t>Ward</a:t>
            </a:r>
            <a:r>
              <a:rPr lang="pt-PT" sz="2500" dirty="0"/>
              <a:t> Cunningham.</a:t>
            </a:r>
          </a:p>
        </p:txBody>
      </p:sp>
    </p:spTree>
    <p:extLst>
      <p:ext uri="{BB962C8B-B14F-4D97-AF65-F5344CB8AC3E}">
        <p14:creationId xmlns:p14="http://schemas.microsoft.com/office/powerpoint/2010/main" val="101730887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– Cartas CRC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13</a:t>
            </a:fld>
            <a:endParaRPr lang="pt-PT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13612" y="861452"/>
            <a:ext cx="8302804" cy="551324"/>
          </a:xfrm>
        </p:spPr>
        <p:txBody>
          <a:bodyPr/>
          <a:lstStyle/>
          <a:p>
            <a:r>
              <a:rPr lang="pt-PT" sz="2400" dirty="0"/>
              <a:t>A carta </a:t>
            </a:r>
            <a:r>
              <a:rPr lang="pt-PT" sz="2400" b="1" dirty="0">
                <a:solidFill>
                  <a:srgbClr val="FF0000"/>
                </a:solidFill>
              </a:rPr>
              <a:t>CRC</a:t>
            </a:r>
            <a:endParaRPr lang="pt-PT" dirty="0"/>
          </a:p>
          <a:p>
            <a:pPr marL="33337" indent="0">
              <a:buNone/>
            </a:pPr>
            <a:endParaRPr lang="pt-PT" sz="2400" dirty="0"/>
          </a:p>
          <a:p>
            <a:pPr marL="0" indent="0">
              <a:buNone/>
            </a:pPr>
            <a:endParaRPr lang="pt-PT" sz="2400" dirty="0"/>
          </a:p>
          <a:p>
            <a:pPr lvl="1"/>
            <a:endParaRPr lang="pt-PT" dirty="0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259632" y="1772816"/>
            <a:ext cx="6324600" cy="3810000"/>
          </a:xfrm>
          <a:prstGeom prst="rect">
            <a:avLst/>
          </a:prstGeom>
          <a:solidFill>
            <a:srgbClr val="F9D29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r>
              <a:rPr lang="pt-PT" sz="2400" b="1" dirty="0"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  <a:t>C</a:t>
            </a:r>
            <a:r>
              <a:rPr lang="pt-PT" sz="2000" b="1" dirty="0"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  <a:t>lasse (nome)                              </a:t>
            </a:r>
            <a:r>
              <a:rPr lang="pt-PT" sz="2400" b="1" dirty="0"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  <a:t>C</a:t>
            </a:r>
            <a:r>
              <a:rPr lang="pt-PT" sz="2000" b="1" dirty="0"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  <a:t>olaboradores</a:t>
            </a:r>
            <a:br>
              <a:rPr lang="pt-PT" sz="2000" b="1" dirty="0"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</a:br>
            <a:br>
              <a:rPr lang="pt-PT" sz="1800" dirty="0">
                <a:latin typeface="Verdana" charset="0"/>
                <a:ea typeface="ＭＳ Ｐゴシック" charset="0"/>
                <a:cs typeface="ＭＳ Ｐゴシック" charset="0"/>
              </a:rPr>
            </a:br>
            <a:r>
              <a:rPr lang="pt-PT" sz="2400" b="1" dirty="0"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  <a:t>R</a:t>
            </a:r>
            <a:r>
              <a:rPr lang="pt-PT" sz="2000" b="1" dirty="0"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  <a:t>esponsabilidades</a:t>
            </a:r>
          </a:p>
        </p:txBody>
      </p:sp>
      <p:sp>
        <p:nvSpPr>
          <p:cNvPr id="10" name="Line 4"/>
          <p:cNvSpPr>
            <a:spLocks noChangeShapeType="1"/>
          </p:cNvSpPr>
          <p:nvPr/>
        </p:nvSpPr>
        <p:spPr bwMode="auto">
          <a:xfrm>
            <a:off x="4460032" y="2001416"/>
            <a:ext cx="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pt-PT" dirty="0"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1335832" y="2230016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pt-PT" dirty="0"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Line 6"/>
          <p:cNvSpPr>
            <a:spLocks noChangeShapeType="1"/>
          </p:cNvSpPr>
          <p:nvPr/>
        </p:nvSpPr>
        <p:spPr bwMode="auto">
          <a:xfrm>
            <a:off x="4716016" y="2231619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pt-PT" dirty="0">
              <a:latin typeface="Time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35913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Cenários – exemplo prático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14</a:t>
            </a:fld>
            <a:endParaRPr lang="pt-PT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13612" y="861452"/>
            <a:ext cx="8302804" cy="4871804"/>
          </a:xfrm>
        </p:spPr>
        <p:txBody>
          <a:bodyPr/>
          <a:lstStyle/>
          <a:p>
            <a:pPr marL="33337" indent="0">
              <a:buNone/>
            </a:pPr>
            <a:endParaRPr lang="pt-PT" sz="2400" dirty="0"/>
          </a:p>
          <a:p>
            <a:pPr marL="0" indent="0">
              <a:buNone/>
            </a:pPr>
            <a:endParaRPr lang="pt-PT" sz="2400" dirty="0"/>
          </a:p>
          <a:p>
            <a:pPr lvl="1"/>
            <a:endParaRPr lang="pt-PT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259632" y="1772816"/>
            <a:ext cx="6552728" cy="3810000"/>
          </a:xfrm>
          <a:prstGeom prst="rect">
            <a:avLst/>
          </a:prstGeom>
          <a:solidFill>
            <a:srgbClr val="F9D29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r>
              <a:rPr lang="pt-PT" sz="2000" b="1" dirty="0" err="1"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  <a:t>SistemaReservas</a:t>
            </a:r>
            <a:r>
              <a:rPr lang="pt-PT" sz="2000" b="1" dirty="0"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  <a:t>                              </a:t>
            </a:r>
            <a:r>
              <a:rPr lang="pt-PT" sz="2400" dirty="0"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  <a:t>C</a:t>
            </a:r>
            <a:r>
              <a:rPr lang="pt-PT" sz="2000" dirty="0"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  <a:t>olaboradores</a:t>
            </a:r>
            <a:br>
              <a:rPr lang="pt-PT" sz="2000" dirty="0">
                <a:latin typeface="Tw Cen MT" panose="020B0602020104020603" pitchFamily="34" charset="0"/>
                <a:ea typeface="ＭＳ Ｐゴシック" charset="0"/>
                <a:cs typeface="ＭＳ Ｐゴシック" charset="0"/>
              </a:rPr>
            </a:br>
            <a:br>
              <a:rPr lang="pt-PT" sz="1800" dirty="0">
                <a:latin typeface="Verdana" charset="0"/>
                <a:ea typeface="ＭＳ Ｐゴシック" charset="0"/>
                <a:cs typeface="ＭＳ Ｐゴシック" charset="0"/>
              </a:rPr>
            </a:br>
            <a:r>
              <a:rPr lang="pt-PT" sz="1800" dirty="0">
                <a:latin typeface="Verdana" charset="0"/>
                <a:ea typeface="ＭＳ Ｐゴシック" charset="0"/>
                <a:cs typeface="ＭＳ Ｐゴシック" charset="0"/>
              </a:rPr>
              <a:t>Pode encontrar as sessões      </a:t>
            </a:r>
            <a:r>
              <a:rPr lang="pt-PT" sz="1800" b="1" dirty="0">
                <a:latin typeface="Verdana" charset="0"/>
                <a:ea typeface="ＭＳ Ｐゴシック" charset="0"/>
                <a:cs typeface="ＭＳ Ｐゴシック" charset="0"/>
              </a:rPr>
              <a:t>Sessão</a:t>
            </a:r>
            <a:br>
              <a:rPr lang="pt-PT" sz="1800" dirty="0">
                <a:latin typeface="Verdana" charset="0"/>
                <a:ea typeface="ＭＳ Ｐゴシック" charset="0"/>
                <a:cs typeface="ＭＳ Ｐゴシック" charset="0"/>
              </a:rPr>
            </a:br>
            <a:r>
              <a:rPr lang="pt-PT" sz="1800" dirty="0">
                <a:latin typeface="Verdana" charset="0"/>
                <a:ea typeface="ＭＳ Ｐゴシック" charset="0"/>
                <a:cs typeface="ＭＳ Ｐゴシック" charset="0"/>
              </a:rPr>
              <a:t>pelo título do filme e pelo </a:t>
            </a:r>
            <a:br>
              <a:rPr lang="pt-PT" sz="1800" dirty="0">
                <a:latin typeface="Verdana" charset="0"/>
                <a:ea typeface="ＭＳ Ｐゴシック" charset="0"/>
                <a:cs typeface="ＭＳ Ｐゴシック" charset="0"/>
              </a:rPr>
            </a:br>
            <a:r>
              <a:rPr lang="pt-PT" sz="1800" dirty="0">
                <a:latin typeface="Verdana" charset="0"/>
                <a:ea typeface="ＭＳ Ｐゴシック" charset="0"/>
                <a:cs typeface="ＭＳ Ｐゴシック" charset="0"/>
              </a:rPr>
              <a:t>dia</a:t>
            </a:r>
          </a:p>
          <a:p>
            <a:pPr>
              <a:defRPr/>
            </a:pPr>
            <a:endParaRPr lang="pt-PT" dirty="0">
              <a:latin typeface="Verdana" charset="0"/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pt-PT" sz="1800" dirty="0">
                <a:latin typeface="Verdana" charset="0"/>
                <a:ea typeface="ＭＳ Ｐゴシック" charset="0"/>
                <a:cs typeface="ＭＳ Ｐゴシック" charset="0"/>
              </a:rPr>
              <a:t>Guarda coleções de                </a:t>
            </a:r>
            <a:r>
              <a:rPr lang="pt-PT" sz="1800" b="1" dirty="0">
                <a:latin typeface="Verdana" charset="0"/>
                <a:ea typeface="ＭＳ Ｐゴシック" charset="0"/>
                <a:cs typeface="ＭＳ Ｐゴシック" charset="0"/>
              </a:rPr>
              <a:t>Coleção</a:t>
            </a:r>
            <a:br>
              <a:rPr lang="pt-PT" sz="1800" dirty="0">
                <a:latin typeface="Verdana" charset="0"/>
                <a:ea typeface="ＭＳ Ｐゴシック" charset="0"/>
                <a:cs typeface="ＭＳ Ｐゴシック" charset="0"/>
              </a:rPr>
            </a:br>
            <a:r>
              <a:rPr lang="pt-PT" sz="1800" dirty="0">
                <a:latin typeface="Verdana" charset="0"/>
                <a:ea typeface="ＭＳ Ｐゴシック" charset="0"/>
                <a:cs typeface="ＭＳ Ｐゴシック" charset="0"/>
              </a:rPr>
              <a:t>sessões</a:t>
            </a:r>
          </a:p>
          <a:p>
            <a:pPr>
              <a:defRPr/>
            </a:pPr>
            <a:endParaRPr lang="pt-PT" dirty="0">
              <a:latin typeface="Verdana" charset="0"/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pt-PT" sz="1800" dirty="0">
                <a:latin typeface="Verdana" charset="0"/>
                <a:ea typeface="ＭＳ Ｐゴシック" charset="0"/>
                <a:cs typeface="ＭＳ Ｐゴシック" charset="0"/>
              </a:rPr>
              <a:t>Obtém e mostra os </a:t>
            </a:r>
            <a:br>
              <a:rPr lang="pt-PT" sz="1800" dirty="0">
                <a:latin typeface="Verdana" charset="0"/>
                <a:ea typeface="ＭＳ Ｐゴシック" charset="0"/>
                <a:cs typeface="ＭＳ Ｐゴシック" charset="0"/>
              </a:rPr>
            </a:br>
            <a:r>
              <a:rPr lang="pt-PT" sz="1800" dirty="0">
                <a:latin typeface="Verdana" charset="0"/>
                <a:ea typeface="ＭＳ Ｐゴシック" charset="0"/>
                <a:cs typeface="ＭＳ Ｐゴシック" charset="0"/>
              </a:rPr>
              <a:t>detalhes das sessões</a:t>
            </a:r>
          </a:p>
          <a:p>
            <a:pPr>
              <a:defRPr/>
            </a:pPr>
            <a:endParaRPr lang="pt-PT" dirty="0">
              <a:latin typeface="Verdana" charset="0"/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pt-PT" sz="1800" dirty="0">
                <a:latin typeface="Verdana" charset="0"/>
                <a:ea typeface="ＭＳ Ｐゴシック" charset="0"/>
                <a:cs typeface="ＭＳ Ｐゴシック" charset="0"/>
              </a:rPr>
              <a:t>… </a:t>
            </a:r>
            <a:endParaRPr lang="pt-PT" sz="2000" b="1" dirty="0">
              <a:latin typeface="Tw Cen MT" panose="020B0602020104020603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4460032" y="2001416"/>
            <a:ext cx="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pt-PT" dirty="0"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1335832" y="2230016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pt-PT" dirty="0">
              <a:latin typeface="Time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5004048" y="2230016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pt-PT" dirty="0">
              <a:latin typeface="Time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80207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</a:t>
            </a:r>
            <a:r>
              <a:rPr lang="en-GB" dirty="0"/>
              <a:t>=&gt;</a:t>
            </a:r>
            <a:r>
              <a:rPr lang="pt-PT" dirty="0"/>
              <a:t> Desenho (Cenários)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15</a:t>
            </a:fld>
            <a:endParaRPr lang="pt-PT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13611" y="861452"/>
            <a:ext cx="9058951" cy="5519876"/>
          </a:xfrm>
        </p:spPr>
        <p:txBody>
          <a:bodyPr/>
          <a:lstStyle/>
          <a:p>
            <a:r>
              <a:rPr lang="pt-PT" sz="3500" b="1" dirty="0">
                <a:solidFill>
                  <a:srgbClr val="FF0000"/>
                </a:solidFill>
              </a:rPr>
              <a:t>Cenários</a:t>
            </a:r>
          </a:p>
          <a:p>
            <a:pPr lvl="1">
              <a:lnSpc>
                <a:spcPct val="100000"/>
              </a:lnSpc>
              <a:spcBef>
                <a:spcPts val="800"/>
              </a:spcBef>
            </a:pPr>
            <a:r>
              <a:rPr lang="pt-PT" sz="2500" dirty="0"/>
              <a:t>Depois de se obterem as possíveis classes do sistema e que são identificadas nas cartas CRC é necessário descobrir as interações entre elas e isso será feito através de </a:t>
            </a:r>
            <a:r>
              <a:rPr lang="pt-PT" sz="2500" b="1" dirty="0">
                <a:solidFill>
                  <a:srgbClr val="FF0000"/>
                </a:solidFill>
              </a:rPr>
              <a:t>Cenários</a:t>
            </a:r>
            <a:r>
              <a:rPr lang="pt-PT" sz="2500" dirty="0"/>
              <a:t>. </a:t>
            </a:r>
          </a:p>
          <a:p>
            <a:pPr lvl="1">
              <a:lnSpc>
                <a:spcPct val="100000"/>
              </a:lnSpc>
              <a:spcBef>
                <a:spcPts val="800"/>
              </a:spcBef>
            </a:pPr>
            <a:r>
              <a:rPr lang="pt-PT" sz="2500" dirty="0"/>
              <a:t>Um </a:t>
            </a:r>
            <a:r>
              <a:rPr lang="pt-PT" sz="2500" b="1" dirty="0">
                <a:solidFill>
                  <a:srgbClr val="FF0000"/>
                </a:solidFill>
              </a:rPr>
              <a:t>cenário</a:t>
            </a:r>
            <a:r>
              <a:rPr lang="pt-PT" sz="2500" dirty="0"/>
              <a:t> (uses cases) descreve um caso concreto da realização de uma atividade no sistema.</a:t>
            </a:r>
          </a:p>
          <a:p>
            <a:pPr lvl="2">
              <a:lnSpc>
                <a:spcPct val="100000"/>
              </a:lnSpc>
              <a:spcBef>
                <a:spcPts val="800"/>
              </a:spcBef>
            </a:pPr>
            <a:r>
              <a:rPr lang="pt-PT" sz="2500" dirty="0"/>
              <a:t>Vamos identificar o que se faz (em cada classe) quando se utiliza o sistema.</a:t>
            </a:r>
          </a:p>
          <a:p>
            <a:pPr lvl="2">
              <a:lnSpc>
                <a:spcPct val="100000"/>
              </a:lnSpc>
              <a:spcBef>
                <a:spcPts val="800"/>
              </a:spcBef>
            </a:pPr>
            <a:r>
              <a:rPr lang="pt-PT" sz="2500" dirty="0"/>
              <a:t>É uma forma de encontrar as </a:t>
            </a:r>
            <a:r>
              <a:rPr lang="pt-PT" sz="2500" b="1" dirty="0">
                <a:solidFill>
                  <a:srgbClr val="FF0000"/>
                </a:solidFill>
              </a:rPr>
              <a:t>interações entre objetos</a:t>
            </a:r>
            <a:r>
              <a:rPr lang="pt-PT" sz="2500" dirty="0"/>
              <a:t> (colaborações).</a:t>
            </a:r>
          </a:p>
          <a:p>
            <a:pPr lvl="2">
              <a:lnSpc>
                <a:spcPct val="100000"/>
              </a:lnSpc>
              <a:spcBef>
                <a:spcPts val="800"/>
              </a:spcBef>
            </a:pPr>
            <a:r>
              <a:rPr lang="pt-PT" sz="2500" dirty="0"/>
              <a:t>Pode ser feito como uma </a:t>
            </a:r>
            <a:r>
              <a:rPr lang="pt-PT" sz="2500" b="1" dirty="0">
                <a:solidFill>
                  <a:srgbClr val="FF0000"/>
                </a:solidFill>
              </a:rPr>
              <a:t>atividade de grupo</a:t>
            </a:r>
            <a:r>
              <a:rPr lang="pt-PT" sz="2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910569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</a:t>
            </a:r>
            <a:r>
              <a:rPr lang="en-GB" dirty="0"/>
              <a:t>=&gt;</a:t>
            </a:r>
            <a:r>
              <a:rPr lang="pt-PT" dirty="0"/>
              <a:t> Desenho (Cenários)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16</a:t>
            </a:fld>
            <a:endParaRPr lang="pt-PT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420598" y="993098"/>
            <a:ext cx="8302804" cy="4871804"/>
          </a:xfrm>
        </p:spPr>
        <p:txBody>
          <a:bodyPr/>
          <a:lstStyle/>
          <a:p>
            <a:r>
              <a:rPr lang="pt-PT" sz="3500" b="1" dirty="0">
                <a:solidFill>
                  <a:srgbClr val="FF0000"/>
                </a:solidFill>
              </a:rPr>
              <a:t>Cenários</a:t>
            </a:r>
          </a:p>
          <a:p>
            <a:pPr lvl="1">
              <a:spcBef>
                <a:spcPts val="1200"/>
              </a:spcBef>
            </a:pPr>
            <a:r>
              <a:rPr lang="pt-PT" sz="2500" dirty="0"/>
              <a:t>Os cenários permitem verificar se a descrição do problema é clara e se está completa. </a:t>
            </a:r>
          </a:p>
          <a:p>
            <a:pPr lvl="1">
              <a:spcBef>
                <a:spcPts val="1200"/>
              </a:spcBef>
            </a:pPr>
            <a:r>
              <a:rPr lang="pt-PT" sz="2500" dirty="0"/>
              <a:t>É necessário perder algum tempo a encontrar os vários cenários de utilização.</a:t>
            </a:r>
          </a:p>
          <a:p>
            <a:pPr lvl="1">
              <a:spcBef>
                <a:spcPts val="1200"/>
              </a:spcBef>
            </a:pPr>
            <a:r>
              <a:rPr lang="pt-PT" sz="2500" dirty="0"/>
              <a:t>A análise efetuada do problema leva-nos à solução</a:t>
            </a:r>
          </a:p>
          <a:p>
            <a:pPr lvl="2">
              <a:spcBef>
                <a:spcPts val="1200"/>
              </a:spcBef>
            </a:pPr>
            <a:r>
              <a:rPr lang="pt-PT" sz="2500" dirty="0"/>
              <a:t>Se encontrarmos os erros e omissões nesta fase estaremos a poupar tempo e esforço desperdiçados mais tarde.</a:t>
            </a:r>
            <a:endParaRPr lang="pt-PT" sz="2400" dirty="0"/>
          </a:p>
          <a:p>
            <a:pPr marL="0" indent="0">
              <a:buNone/>
            </a:pPr>
            <a:endParaRPr lang="pt-PT" sz="2400" dirty="0"/>
          </a:p>
          <a:p>
            <a:pPr lvl="1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6604148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Casos de Utilização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17</a:t>
            </a:fld>
            <a:endParaRPr lang="pt-PT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528D60-9E05-404C-B5C4-F50C88E7AA2C}"/>
              </a:ext>
            </a:extLst>
          </p:cNvPr>
          <p:cNvSpPr/>
          <p:nvPr/>
        </p:nvSpPr>
        <p:spPr>
          <a:xfrm>
            <a:off x="2909922" y="1264492"/>
            <a:ext cx="2520280" cy="49685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80F36BF-FA4F-4BD4-B423-D2316C8CC65E}"/>
              </a:ext>
            </a:extLst>
          </p:cNvPr>
          <p:cNvGrpSpPr/>
          <p:nvPr/>
        </p:nvGrpSpPr>
        <p:grpSpPr>
          <a:xfrm>
            <a:off x="1403648" y="1266205"/>
            <a:ext cx="256653" cy="880833"/>
            <a:chOff x="1884603" y="1268760"/>
            <a:chExt cx="256653" cy="880833"/>
          </a:xfrm>
        </p:grpSpPr>
        <p:sp>
          <p:nvSpPr>
            <p:cNvPr id="16" name="Smiley Face 15">
              <a:extLst>
                <a:ext uri="{FF2B5EF4-FFF2-40B4-BE49-F238E27FC236}">
                  <a16:creationId xmlns:a16="http://schemas.microsoft.com/office/drawing/2014/main" id="{56C1EE9B-EDC1-469E-B3CA-47746498ADD1}"/>
                </a:ext>
              </a:extLst>
            </p:cNvPr>
            <p:cNvSpPr/>
            <p:nvPr/>
          </p:nvSpPr>
          <p:spPr>
            <a:xfrm>
              <a:off x="1907704" y="1268760"/>
              <a:ext cx="216024" cy="216024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CAED267-7104-4163-9FE2-6A817509DA3B}"/>
                </a:ext>
              </a:extLst>
            </p:cNvPr>
            <p:cNvCxnSpPr>
              <a:cxnSpLocks/>
              <a:stCxn id="16" idx="4"/>
            </p:cNvCxnSpPr>
            <p:nvPr/>
          </p:nvCxnSpPr>
          <p:spPr>
            <a:xfrm>
              <a:off x="2015716" y="1484784"/>
              <a:ext cx="0" cy="33642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E5439A3-02C2-4BB7-90CF-E2B0E846B4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7704" y="1813167"/>
              <a:ext cx="104428" cy="33642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BE60E8F-B5B5-43F5-9C79-733545A4793C}"/>
                </a:ext>
              </a:extLst>
            </p:cNvPr>
            <p:cNvCxnSpPr>
              <a:cxnSpLocks/>
            </p:cNvCxnSpPr>
            <p:nvPr/>
          </p:nvCxnSpPr>
          <p:spPr>
            <a:xfrm>
              <a:off x="2022921" y="1830276"/>
              <a:ext cx="100807" cy="31931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6AE2A9B-01A6-4ABE-8E79-AA7D625093AD}"/>
                </a:ext>
              </a:extLst>
            </p:cNvPr>
            <p:cNvCxnSpPr>
              <a:cxnSpLocks/>
            </p:cNvCxnSpPr>
            <p:nvPr/>
          </p:nvCxnSpPr>
          <p:spPr>
            <a:xfrm>
              <a:off x="2035756" y="1573003"/>
              <a:ext cx="105500" cy="12295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1D1EC81-E1DE-4203-ADCE-D09336C68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84603" y="1567183"/>
              <a:ext cx="105500" cy="12295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266F8B-1AD7-4827-A06A-AD9981C99825}"/>
              </a:ext>
            </a:extLst>
          </p:cNvPr>
          <p:cNvCxnSpPr>
            <a:cxnSpLocks/>
          </p:cNvCxnSpPr>
          <p:nvPr/>
        </p:nvCxnSpPr>
        <p:spPr>
          <a:xfrm>
            <a:off x="1835696" y="1564628"/>
            <a:ext cx="1368152" cy="2977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CA04A20-A24F-4461-B2B6-96CB3ECCCBD6}"/>
              </a:ext>
            </a:extLst>
          </p:cNvPr>
          <p:cNvSpPr txBox="1"/>
          <p:nvPr/>
        </p:nvSpPr>
        <p:spPr>
          <a:xfrm>
            <a:off x="3441378" y="1425508"/>
            <a:ext cx="1584176" cy="32316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500" b="1" dirty="0">
                <a:solidFill>
                  <a:srgbClr val="00B050"/>
                </a:solidFill>
              </a:rPr>
              <a:t>BackOffice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A06C8C-2B1B-451C-8595-3816B8F00A52}"/>
              </a:ext>
            </a:extLst>
          </p:cNvPr>
          <p:cNvSpPr txBox="1"/>
          <p:nvPr/>
        </p:nvSpPr>
        <p:spPr>
          <a:xfrm>
            <a:off x="3441378" y="2169216"/>
            <a:ext cx="1584176" cy="5539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500" b="1" dirty="0">
                <a:solidFill>
                  <a:srgbClr val="FF0000"/>
                </a:solidFill>
              </a:rPr>
              <a:t>Cria </a:t>
            </a:r>
            <a:r>
              <a:rPr lang="pt-PT" sz="1500" b="1" dirty="0" err="1">
                <a:solidFill>
                  <a:srgbClr val="FF0000"/>
                </a:solidFill>
              </a:rPr>
              <a:t>Array</a:t>
            </a:r>
            <a:r>
              <a:rPr lang="pt-PT" sz="1500" b="1" dirty="0">
                <a:solidFill>
                  <a:srgbClr val="FF0000"/>
                </a:solidFill>
              </a:rPr>
              <a:t> de Setores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03928F3-B452-4D4B-B521-DAD000A95222}"/>
              </a:ext>
            </a:extLst>
          </p:cNvPr>
          <p:cNvSpPr/>
          <p:nvPr/>
        </p:nvSpPr>
        <p:spPr>
          <a:xfrm>
            <a:off x="5572353" y="1252771"/>
            <a:ext cx="2255349" cy="16005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pt-PT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Definir cada setor atribuindo-lhe uma letra e uma cor num mapa do parque.</a:t>
            </a:r>
            <a:endParaRPr lang="pt-P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84CE79-53DB-43BD-8C5A-A8E453EDB2F8}"/>
              </a:ext>
            </a:extLst>
          </p:cNvPr>
          <p:cNvSpPr txBox="1"/>
          <p:nvPr/>
        </p:nvSpPr>
        <p:spPr>
          <a:xfrm>
            <a:off x="3193206" y="3143757"/>
            <a:ext cx="2088232" cy="10156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500" b="1" dirty="0">
                <a:solidFill>
                  <a:srgbClr val="FF0000"/>
                </a:solidFill>
              </a:rPr>
              <a:t>Apresenta menu para configuração dos setores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D00230B-0E12-4715-B916-83A9788A0EBD}"/>
              </a:ext>
            </a:extLst>
          </p:cNvPr>
          <p:cNvCxnSpPr>
            <a:cxnSpLocks/>
          </p:cNvCxnSpPr>
          <p:nvPr/>
        </p:nvCxnSpPr>
        <p:spPr>
          <a:xfrm flipH="1">
            <a:off x="1655586" y="3601607"/>
            <a:ext cx="1368152" cy="2977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2B83AD3-AD78-4FEA-9281-F36ADB111D82}"/>
              </a:ext>
            </a:extLst>
          </p:cNvPr>
          <p:cNvGrpSpPr/>
          <p:nvPr/>
        </p:nvGrpSpPr>
        <p:grpSpPr>
          <a:xfrm>
            <a:off x="1310072" y="3953404"/>
            <a:ext cx="256653" cy="880833"/>
            <a:chOff x="1884603" y="1268760"/>
            <a:chExt cx="256653" cy="880833"/>
          </a:xfrm>
        </p:grpSpPr>
        <p:sp>
          <p:nvSpPr>
            <p:cNvPr id="41" name="Smiley Face 40">
              <a:extLst>
                <a:ext uri="{FF2B5EF4-FFF2-40B4-BE49-F238E27FC236}">
                  <a16:creationId xmlns:a16="http://schemas.microsoft.com/office/drawing/2014/main" id="{D70A6445-3FA4-4D4A-887B-85E4A6550579}"/>
                </a:ext>
              </a:extLst>
            </p:cNvPr>
            <p:cNvSpPr/>
            <p:nvPr/>
          </p:nvSpPr>
          <p:spPr>
            <a:xfrm>
              <a:off x="1907704" y="1268760"/>
              <a:ext cx="216024" cy="216024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FDF3B4A-3FDE-4841-8FE9-F0D29E19B9AC}"/>
                </a:ext>
              </a:extLst>
            </p:cNvPr>
            <p:cNvCxnSpPr>
              <a:cxnSpLocks/>
              <a:stCxn id="41" idx="4"/>
            </p:cNvCxnSpPr>
            <p:nvPr/>
          </p:nvCxnSpPr>
          <p:spPr>
            <a:xfrm>
              <a:off x="2015716" y="1484784"/>
              <a:ext cx="0" cy="33642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6023D63-309A-493C-AE50-98B4B55EBE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7704" y="1813167"/>
              <a:ext cx="104428" cy="33642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0260438-BA88-4128-83C2-7FDCFC8F04D8}"/>
                </a:ext>
              </a:extLst>
            </p:cNvPr>
            <p:cNvCxnSpPr>
              <a:cxnSpLocks/>
            </p:cNvCxnSpPr>
            <p:nvPr/>
          </p:nvCxnSpPr>
          <p:spPr>
            <a:xfrm>
              <a:off x="2022921" y="1830276"/>
              <a:ext cx="100807" cy="31931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2639DB8-F499-4129-9B33-A8EAA8E056A2}"/>
                </a:ext>
              </a:extLst>
            </p:cNvPr>
            <p:cNvCxnSpPr>
              <a:cxnSpLocks/>
            </p:cNvCxnSpPr>
            <p:nvPr/>
          </p:nvCxnSpPr>
          <p:spPr>
            <a:xfrm>
              <a:off x="2035756" y="1573003"/>
              <a:ext cx="105500" cy="12295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0423429-5F1F-4D66-8063-32A1125E24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84603" y="1567183"/>
              <a:ext cx="105500" cy="12295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703B8D7-3587-4D6D-8C53-95D47A3E0457}"/>
              </a:ext>
            </a:extLst>
          </p:cNvPr>
          <p:cNvCxnSpPr>
            <a:cxnSpLocks/>
          </p:cNvCxnSpPr>
          <p:nvPr/>
        </p:nvCxnSpPr>
        <p:spPr>
          <a:xfrm>
            <a:off x="1865946" y="4639126"/>
            <a:ext cx="1368152" cy="2977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E7CCCB8-6CE4-485E-A1BA-0B9AF8158E8A}"/>
              </a:ext>
            </a:extLst>
          </p:cNvPr>
          <p:cNvCxnSpPr>
            <a:cxnSpLocks/>
          </p:cNvCxnSpPr>
          <p:nvPr/>
        </p:nvCxnSpPr>
        <p:spPr>
          <a:xfrm flipH="1" flipV="1">
            <a:off x="1770169" y="4799470"/>
            <a:ext cx="1368152" cy="2977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1C60152-CBC5-4E61-A3F0-B7B2B240C25D}"/>
              </a:ext>
            </a:extLst>
          </p:cNvPr>
          <p:cNvSpPr txBox="1"/>
          <p:nvPr/>
        </p:nvSpPr>
        <p:spPr>
          <a:xfrm>
            <a:off x="3441378" y="4579964"/>
            <a:ext cx="1584176" cy="124649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500" b="1" dirty="0">
                <a:solidFill>
                  <a:srgbClr val="00B050"/>
                </a:solidFill>
              </a:rPr>
              <a:t>Para cada setor: cor, numero, </a:t>
            </a:r>
            <a:r>
              <a:rPr lang="pt-PT" sz="1500" b="1" dirty="0" err="1">
                <a:solidFill>
                  <a:srgbClr val="00B050"/>
                </a:solidFill>
              </a:rPr>
              <a:t>caracteristicas</a:t>
            </a:r>
            <a:endParaRPr lang="pt-PT" sz="1500" b="1" dirty="0">
              <a:solidFill>
                <a:srgbClr val="00B050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67D5D5A-FF76-4E4C-97A4-8C62251CD665}"/>
              </a:ext>
            </a:extLst>
          </p:cNvPr>
          <p:cNvCxnSpPr>
            <a:cxnSpLocks/>
          </p:cNvCxnSpPr>
          <p:nvPr/>
        </p:nvCxnSpPr>
        <p:spPr>
          <a:xfrm>
            <a:off x="4233466" y="1748673"/>
            <a:ext cx="0" cy="4155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8DF1CE8-EAF9-4EE6-BA4D-9C00293ED897}"/>
              </a:ext>
            </a:extLst>
          </p:cNvPr>
          <p:cNvCxnSpPr>
            <a:cxnSpLocks/>
          </p:cNvCxnSpPr>
          <p:nvPr/>
        </p:nvCxnSpPr>
        <p:spPr>
          <a:xfrm>
            <a:off x="4233466" y="2725410"/>
            <a:ext cx="0" cy="4155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24082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Casos de Utilização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18</a:t>
            </a:fld>
            <a:endParaRPr lang="pt-PT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528D60-9E05-404C-B5C4-F50C88E7AA2C}"/>
              </a:ext>
            </a:extLst>
          </p:cNvPr>
          <p:cNvSpPr/>
          <p:nvPr/>
        </p:nvSpPr>
        <p:spPr>
          <a:xfrm>
            <a:off x="2909922" y="1264492"/>
            <a:ext cx="2999982" cy="49685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80F36BF-FA4F-4BD4-B423-D2316C8CC65E}"/>
              </a:ext>
            </a:extLst>
          </p:cNvPr>
          <p:cNvGrpSpPr/>
          <p:nvPr/>
        </p:nvGrpSpPr>
        <p:grpSpPr>
          <a:xfrm>
            <a:off x="1403648" y="985091"/>
            <a:ext cx="256653" cy="880833"/>
            <a:chOff x="1884603" y="1268760"/>
            <a:chExt cx="256653" cy="880833"/>
          </a:xfrm>
        </p:grpSpPr>
        <p:sp>
          <p:nvSpPr>
            <p:cNvPr id="16" name="Smiley Face 15">
              <a:extLst>
                <a:ext uri="{FF2B5EF4-FFF2-40B4-BE49-F238E27FC236}">
                  <a16:creationId xmlns:a16="http://schemas.microsoft.com/office/drawing/2014/main" id="{56C1EE9B-EDC1-469E-B3CA-47746498ADD1}"/>
                </a:ext>
              </a:extLst>
            </p:cNvPr>
            <p:cNvSpPr/>
            <p:nvPr/>
          </p:nvSpPr>
          <p:spPr>
            <a:xfrm>
              <a:off x="1907704" y="1268760"/>
              <a:ext cx="216024" cy="216024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CAED267-7104-4163-9FE2-6A817509DA3B}"/>
                </a:ext>
              </a:extLst>
            </p:cNvPr>
            <p:cNvCxnSpPr>
              <a:cxnSpLocks/>
              <a:stCxn id="16" idx="4"/>
            </p:cNvCxnSpPr>
            <p:nvPr/>
          </p:nvCxnSpPr>
          <p:spPr>
            <a:xfrm>
              <a:off x="2015716" y="1484784"/>
              <a:ext cx="0" cy="33642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E5439A3-02C2-4BB7-90CF-E2B0E846B4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7704" y="1813167"/>
              <a:ext cx="104428" cy="33642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BE60E8F-B5B5-43F5-9C79-733545A4793C}"/>
                </a:ext>
              </a:extLst>
            </p:cNvPr>
            <p:cNvCxnSpPr>
              <a:cxnSpLocks/>
            </p:cNvCxnSpPr>
            <p:nvPr/>
          </p:nvCxnSpPr>
          <p:spPr>
            <a:xfrm>
              <a:off x="2022921" y="1830276"/>
              <a:ext cx="100807" cy="31931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6AE2A9B-01A6-4ABE-8E79-AA7D625093AD}"/>
                </a:ext>
              </a:extLst>
            </p:cNvPr>
            <p:cNvCxnSpPr>
              <a:cxnSpLocks/>
            </p:cNvCxnSpPr>
            <p:nvPr/>
          </p:nvCxnSpPr>
          <p:spPr>
            <a:xfrm>
              <a:off x="2035756" y="1573003"/>
              <a:ext cx="105500" cy="12295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1D1EC81-E1DE-4203-ADCE-D09336C68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84603" y="1567183"/>
              <a:ext cx="105500" cy="12295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266F8B-1AD7-4827-A06A-AD9981C99825}"/>
              </a:ext>
            </a:extLst>
          </p:cNvPr>
          <p:cNvCxnSpPr>
            <a:cxnSpLocks/>
          </p:cNvCxnSpPr>
          <p:nvPr/>
        </p:nvCxnSpPr>
        <p:spPr>
          <a:xfrm>
            <a:off x="1850332" y="1201115"/>
            <a:ext cx="1463531" cy="3628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CA04A20-A24F-4461-B2B6-96CB3ECCCBD6}"/>
              </a:ext>
            </a:extLst>
          </p:cNvPr>
          <p:cNvSpPr txBox="1"/>
          <p:nvPr/>
        </p:nvSpPr>
        <p:spPr>
          <a:xfrm>
            <a:off x="3441378" y="1425508"/>
            <a:ext cx="1584176" cy="27699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200" b="1" dirty="0">
                <a:solidFill>
                  <a:srgbClr val="00B050"/>
                </a:solidFill>
              </a:rPr>
              <a:t>BackOffice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A06C8C-2B1B-451C-8595-3816B8F00A52}"/>
              </a:ext>
            </a:extLst>
          </p:cNvPr>
          <p:cNvSpPr txBox="1"/>
          <p:nvPr/>
        </p:nvSpPr>
        <p:spPr>
          <a:xfrm>
            <a:off x="3441378" y="2169216"/>
            <a:ext cx="1584176" cy="46166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200" b="1" dirty="0">
                <a:solidFill>
                  <a:srgbClr val="00B050"/>
                </a:solidFill>
              </a:rPr>
              <a:t>Menu de configurações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03928F3-B452-4D4B-B521-DAD000A95222}"/>
              </a:ext>
            </a:extLst>
          </p:cNvPr>
          <p:cNvSpPr/>
          <p:nvPr/>
        </p:nvSpPr>
        <p:spPr>
          <a:xfrm>
            <a:off x="5934592" y="1252368"/>
            <a:ext cx="1949776" cy="2108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pt-PT" sz="1500" dirty="0"/>
              <a:t>Definir cada talhão nos diferentes setores, atribuindo-lhes identificadores únicos</a:t>
            </a:r>
            <a:endParaRPr lang="pt-PT" sz="1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84CE79-53DB-43BD-8C5A-A8E453EDB2F8}"/>
              </a:ext>
            </a:extLst>
          </p:cNvPr>
          <p:cNvSpPr txBox="1"/>
          <p:nvPr/>
        </p:nvSpPr>
        <p:spPr>
          <a:xfrm>
            <a:off x="3441377" y="3094710"/>
            <a:ext cx="2299635" cy="8309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200" b="1" dirty="0">
                <a:solidFill>
                  <a:srgbClr val="FF0000"/>
                </a:solidFill>
              </a:rPr>
              <a:t>Para cada setor {Apresenta menu para configuração dos talhões}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D00230B-0E12-4715-B916-83A9788A0EBD}"/>
              </a:ext>
            </a:extLst>
          </p:cNvPr>
          <p:cNvCxnSpPr>
            <a:cxnSpLocks/>
          </p:cNvCxnSpPr>
          <p:nvPr/>
        </p:nvCxnSpPr>
        <p:spPr>
          <a:xfrm flipH="1">
            <a:off x="1931075" y="2351002"/>
            <a:ext cx="1368152" cy="2977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2B83AD3-AD78-4FEA-9281-F36ADB111D82}"/>
              </a:ext>
            </a:extLst>
          </p:cNvPr>
          <p:cNvGrpSpPr/>
          <p:nvPr/>
        </p:nvGrpSpPr>
        <p:grpSpPr>
          <a:xfrm>
            <a:off x="1611207" y="2462123"/>
            <a:ext cx="256653" cy="880833"/>
            <a:chOff x="1884603" y="1268760"/>
            <a:chExt cx="256653" cy="880833"/>
          </a:xfrm>
        </p:grpSpPr>
        <p:sp>
          <p:nvSpPr>
            <p:cNvPr id="41" name="Smiley Face 40">
              <a:extLst>
                <a:ext uri="{FF2B5EF4-FFF2-40B4-BE49-F238E27FC236}">
                  <a16:creationId xmlns:a16="http://schemas.microsoft.com/office/drawing/2014/main" id="{D70A6445-3FA4-4D4A-887B-85E4A6550579}"/>
                </a:ext>
              </a:extLst>
            </p:cNvPr>
            <p:cNvSpPr/>
            <p:nvPr/>
          </p:nvSpPr>
          <p:spPr>
            <a:xfrm>
              <a:off x="1907704" y="1268760"/>
              <a:ext cx="216024" cy="216024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FDF3B4A-3FDE-4841-8FE9-F0D29E19B9AC}"/>
                </a:ext>
              </a:extLst>
            </p:cNvPr>
            <p:cNvCxnSpPr>
              <a:cxnSpLocks/>
              <a:stCxn id="41" idx="4"/>
            </p:cNvCxnSpPr>
            <p:nvPr/>
          </p:nvCxnSpPr>
          <p:spPr>
            <a:xfrm>
              <a:off x="2015716" y="1484784"/>
              <a:ext cx="0" cy="33642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6023D63-309A-493C-AE50-98B4B55EBE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7704" y="1813167"/>
              <a:ext cx="104428" cy="33642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0260438-BA88-4128-83C2-7FDCFC8F04D8}"/>
                </a:ext>
              </a:extLst>
            </p:cNvPr>
            <p:cNvCxnSpPr>
              <a:cxnSpLocks/>
            </p:cNvCxnSpPr>
            <p:nvPr/>
          </p:nvCxnSpPr>
          <p:spPr>
            <a:xfrm>
              <a:off x="2022921" y="1830276"/>
              <a:ext cx="100807" cy="31931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2639DB8-F499-4129-9B33-A8EAA8E056A2}"/>
                </a:ext>
              </a:extLst>
            </p:cNvPr>
            <p:cNvCxnSpPr>
              <a:cxnSpLocks/>
            </p:cNvCxnSpPr>
            <p:nvPr/>
          </p:nvCxnSpPr>
          <p:spPr>
            <a:xfrm>
              <a:off x="2035756" y="1573003"/>
              <a:ext cx="105500" cy="12295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0423429-5F1F-4D66-8063-32A1125E24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84603" y="1567183"/>
              <a:ext cx="105500" cy="12295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703B8D7-3587-4D6D-8C53-95D47A3E0457}"/>
              </a:ext>
            </a:extLst>
          </p:cNvPr>
          <p:cNvCxnSpPr>
            <a:cxnSpLocks/>
          </p:cNvCxnSpPr>
          <p:nvPr/>
        </p:nvCxnSpPr>
        <p:spPr>
          <a:xfrm>
            <a:off x="1952744" y="4481510"/>
            <a:ext cx="1368152" cy="2977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E7CCCB8-6CE4-485E-A1BA-0B9AF8158E8A}"/>
              </a:ext>
            </a:extLst>
          </p:cNvPr>
          <p:cNvCxnSpPr>
            <a:cxnSpLocks/>
          </p:cNvCxnSpPr>
          <p:nvPr/>
        </p:nvCxnSpPr>
        <p:spPr>
          <a:xfrm flipH="1" flipV="1">
            <a:off x="1907704" y="4684093"/>
            <a:ext cx="1368152" cy="2977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1C60152-CBC5-4E61-A3F0-B7B2B240C25D}"/>
              </a:ext>
            </a:extLst>
          </p:cNvPr>
          <p:cNvSpPr txBox="1"/>
          <p:nvPr/>
        </p:nvSpPr>
        <p:spPr>
          <a:xfrm>
            <a:off x="3423568" y="4246998"/>
            <a:ext cx="2299634" cy="10156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200" b="1" dirty="0">
                <a:solidFill>
                  <a:srgbClr val="FF0000"/>
                </a:solidFill>
              </a:rPr>
              <a:t>Para cada setor { para cada talhão: tem </a:t>
            </a:r>
            <a:r>
              <a:rPr lang="pt-PT" sz="1200" b="1" dirty="0" err="1">
                <a:solidFill>
                  <a:srgbClr val="FF0000"/>
                </a:solidFill>
              </a:rPr>
              <a:t>wifi</a:t>
            </a:r>
            <a:r>
              <a:rPr lang="pt-PT" sz="1200" b="1" dirty="0">
                <a:solidFill>
                  <a:srgbClr val="FF0000"/>
                </a:solidFill>
              </a:rPr>
              <a:t>, tem </a:t>
            </a:r>
            <a:r>
              <a:rPr lang="pt-PT" sz="1200" b="1" dirty="0" err="1">
                <a:solidFill>
                  <a:srgbClr val="FF0000"/>
                </a:solidFill>
              </a:rPr>
              <a:t>electricidade</a:t>
            </a:r>
            <a:r>
              <a:rPr lang="pt-PT" sz="1200" b="1" dirty="0">
                <a:solidFill>
                  <a:srgbClr val="FF0000"/>
                </a:solidFill>
              </a:rPr>
              <a:t> </a:t>
            </a:r>
            <a:r>
              <a:rPr lang="pt-PT" sz="1200" b="1" dirty="0" err="1">
                <a:solidFill>
                  <a:srgbClr val="FF0000"/>
                </a:solidFill>
              </a:rPr>
              <a:t>etc</a:t>
            </a:r>
            <a:r>
              <a:rPr lang="pt-PT" sz="1200" b="1" dirty="0">
                <a:solidFill>
                  <a:srgbClr val="FF0000"/>
                </a:solidFill>
              </a:rPr>
              <a:t>: cor, numero, características}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67D5D5A-FF76-4E4C-97A4-8C62251CD665}"/>
              </a:ext>
            </a:extLst>
          </p:cNvPr>
          <p:cNvCxnSpPr>
            <a:cxnSpLocks/>
          </p:cNvCxnSpPr>
          <p:nvPr/>
        </p:nvCxnSpPr>
        <p:spPr>
          <a:xfrm>
            <a:off x="4233466" y="1748673"/>
            <a:ext cx="0" cy="4155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8DF1CE8-EAF9-4EE6-BA4D-9C00293ED897}"/>
              </a:ext>
            </a:extLst>
          </p:cNvPr>
          <p:cNvCxnSpPr>
            <a:cxnSpLocks/>
          </p:cNvCxnSpPr>
          <p:nvPr/>
        </p:nvCxnSpPr>
        <p:spPr>
          <a:xfrm>
            <a:off x="4233466" y="2725410"/>
            <a:ext cx="0" cy="41555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077A3B6-20B1-45F3-A397-044193E0EC2F}"/>
              </a:ext>
            </a:extLst>
          </p:cNvPr>
          <p:cNvCxnSpPr>
            <a:cxnSpLocks/>
          </p:cNvCxnSpPr>
          <p:nvPr/>
        </p:nvCxnSpPr>
        <p:spPr>
          <a:xfrm>
            <a:off x="1939453" y="2882139"/>
            <a:ext cx="1463531" cy="3628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A56658CC-D1C4-4DDF-ABC1-B7379CC1513F}"/>
              </a:ext>
            </a:extLst>
          </p:cNvPr>
          <p:cNvSpPr/>
          <p:nvPr/>
        </p:nvSpPr>
        <p:spPr>
          <a:xfrm>
            <a:off x="1845137" y="3015319"/>
            <a:ext cx="1654029" cy="486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</a:pPr>
            <a:r>
              <a:rPr lang="pt-PT" sz="1200" dirty="0"/>
              <a:t>Escolhe</a:t>
            </a:r>
            <a:br>
              <a:rPr lang="pt-PT" sz="1200" dirty="0"/>
            </a:br>
            <a:r>
              <a:rPr lang="pt-PT" sz="1200" dirty="0"/>
              <a:t>configurar talhões</a:t>
            </a:r>
            <a:endParaRPr lang="pt-PT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BC88E19-5EB4-4F0C-B4AD-FA94C390F4AA}"/>
              </a:ext>
            </a:extLst>
          </p:cNvPr>
          <p:cNvCxnSpPr>
            <a:cxnSpLocks/>
          </p:cNvCxnSpPr>
          <p:nvPr/>
        </p:nvCxnSpPr>
        <p:spPr>
          <a:xfrm flipH="1">
            <a:off x="1987142" y="3546649"/>
            <a:ext cx="1368152" cy="2977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62C6089-08A6-4EEF-A0F6-FCDCC6EC1C3D}"/>
              </a:ext>
            </a:extLst>
          </p:cNvPr>
          <p:cNvGrpSpPr/>
          <p:nvPr/>
        </p:nvGrpSpPr>
        <p:grpSpPr>
          <a:xfrm>
            <a:off x="1621198" y="3561744"/>
            <a:ext cx="256653" cy="880833"/>
            <a:chOff x="1884603" y="1268760"/>
            <a:chExt cx="256653" cy="880833"/>
          </a:xfrm>
        </p:grpSpPr>
        <p:sp>
          <p:nvSpPr>
            <p:cNvPr id="55" name="Smiley Face 54">
              <a:extLst>
                <a:ext uri="{FF2B5EF4-FFF2-40B4-BE49-F238E27FC236}">
                  <a16:creationId xmlns:a16="http://schemas.microsoft.com/office/drawing/2014/main" id="{F63EF688-C1FB-454D-9A71-121F00FA7644}"/>
                </a:ext>
              </a:extLst>
            </p:cNvPr>
            <p:cNvSpPr/>
            <p:nvPr/>
          </p:nvSpPr>
          <p:spPr>
            <a:xfrm>
              <a:off x="1907704" y="1268760"/>
              <a:ext cx="216024" cy="216024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592B086-8235-4414-BF86-69B8AA297D34}"/>
                </a:ext>
              </a:extLst>
            </p:cNvPr>
            <p:cNvCxnSpPr>
              <a:cxnSpLocks/>
              <a:stCxn id="55" idx="4"/>
            </p:cNvCxnSpPr>
            <p:nvPr/>
          </p:nvCxnSpPr>
          <p:spPr>
            <a:xfrm>
              <a:off x="2015716" y="1484784"/>
              <a:ext cx="0" cy="33642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98899EE-A9E3-4878-9D18-200F1E8363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7704" y="1813167"/>
              <a:ext cx="104428" cy="33642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6A0105C-B1AF-404F-B4AF-6F6CA15A3A0D}"/>
                </a:ext>
              </a:extLst>
            </p:cNvPr>
            <p:cNvCxnSpPr>
              <a:cxnSpLocks/>
            </p:cNvCxnSpPr>
            <p:nvPr/>
          </p:nvCxnSpPr>
          <p:spPr>
            <a:xfrm>
              <a:off x="2022921" y="1830276"/>
              <a:ext cx="100807" cy="31931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3800B9B-6790-4098-8B0A-F2C6766E278E}"/>
                </a:ext>
              </a:extLst>
            </p:cNvPr>
            <p:cNvCxnSpPr>
              <a:cxnSpLocks/>
            </p:cNvCxnSpPr>
            <p:nvPr/>
          </p:nvCxnSpPr>
          <p:spPr>
            <a:xfrm>
              <a:off x="2035756" y="1573003"/>
              <a:ext cx="105500" cy="12295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8A01A2E-8FE3-491D-9483-2FA1676D51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84603" y="1567183"/>
              <a:ext cx="105500" cy="12295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660EBA26-9D3D-4B25-97B6-889C8734D550}"/>
              </a:ext>
            </a:extLst>
          </p:cNvPr>
          <p:cNvSpPr/>
          <p:nvPr/>
        </p:nvSpPr>
        <p:spPr>
          <a:xfrm>
            <a:off x="2033765" y="3832874"/>
            <a:ext cx="1654029" cy="6897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</a:pPr>
            <a:r>
              <a:rPr lang="pt-PT" sz="1200" dirty="0"/>
              <a:t>Insere </a:t>
            </a:r>
            <a:r>
              <a:rPr lang="pt-PT" sz="1200" dirty="0" err="1"/>
              <a:t>caracteristicas</a:t>
            </a:r>
            <a:r>
              <a:rPr lang="pt-PT" sz="1200" dirty="0"/>
              <a:t> de cada talhão</a:t>
            </a:r>
            <a:endParaRPr lang="pt-PT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463503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Desenho de classes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19</a:t>
            </a:fld>
            <a:endParaRPr lang="pt-PT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420598" y="993098"/>
            <a:ext cx="8302804" cy="5172206"/>
          </a:xfrm>
        </p:spPr>
        <p:txBody>
          <a:bodyPr/>
          <a:lstStyle/>
          <a:p>
            <a:r>
              <a:rPr lang="pt-PT" sz="3500" b="1" dirty="0">
                <a:solidFill>
                  <a:srgbClr val="FF0000"/>
                </a:solidFill>
              </a:rPr>
              <a:t>Desenho de classes</a:t>
            </a:r>
          </a:p>
          <a:p>
            <a:pPr lvl="1">
              <a:spcBef>
                <a:spcPts val="1200"/>
              </a:spcBef>
            </a:pPr>
            <a:r>
              <a:rPr lang="pt-PT" sz="2500" dirty="0"/>
              <a:t>A análise dos cenários ajuda a clarificar a estrutura da aplicação</a:t>
            </a:r>
          </a:p>
          <a:p>
            <a:pPr lvl="2">
              <a:spcBef>
                <a:spcPts val="1200"/>
              </a:spcBef>
            </a:pPr>
            <a:r>
              <a:rPr lang="pt-PT" sz="2500" dirty="0"/>
              <a:t>Cada carta está relacionada com uma classe</a:t>
            </a:r>
          </a:p>
          <a:p>
            <a:pPr lvl="2">
              <a:spcBef>
                <a:spcPts val="1200"/>
              </a:spcBef>
            </a:pPr>
            <a:r>
              <a:rPr lang="pt-PT" sz="2500" dirty="0"/>
              <a:t>As colaborações revelam a cooperação entre classes/interação entre objetos.</a:t>
            </a:r>
          </a:p>
          <a:p>
            <a:pPr lvl="1">
              <a:spcBef>
                <a:spcPts val="1200"/>
              </a:spcBef>
            </a:pPr>
            <a:r>
              <a:rPr lang="pt-PT" sz="2500" dirty="0"/>
              <a:t>As responsabilidades revelam métodos públicos.</a:t>
            </a:r>
          </a:p>
          <a:p>
            <a:pPr lvl="2">
              <a:spcBef>
                <a:spcPts val="1200"/>
              </a:spcBef>
            </a:pPr>
            <a:r>
              <a:rPr lang="pt-PT" sz="2500" dirty="0"/>
              <a:t>E algumas vezes atributos; por exemplo: “guarda </a:t>
            </a:r>
            <a:r>
              <a:rPr lang="pt-PT" sz="2500" i="1" dirty="0"/>
              <a:t>coleções</a:t>
            </a:r>
            <a:r>
              <a:rPr lang="pt-PT" sz="2500" dirty="0"/>
              <a:t>...”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4133046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Desenho de classes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20</a:t>
            </a:fld>
            <a:endParaRPr lang="pt-PT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229636" y="1005468"/>
            <a:ext cx="8662844" cy="5303852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pt-PT" sz="3500" b="1" dirty="0">
                <a:solidFill>
                  <a:srgbClr val="FF0000"/>
                </a:solidFill>
              </a:rPr>
              <a:t>Desenho de classes</a:t>
            </a:r>
          </a:p>
          <a:p>
            <a:pPr lvl="1">
              <a:spcBef>
                <a:spcPts val="600"/>
              </a:spcBef>
            </a:pPr>
            <a:r>
              <a:rPr lang="pt-PT" sz="3000" dirty="0"/>
              <a:t>As responsabilidades devem ser atribuídas/implementadas seguindo os princípios do desenho de classes estudado anteriormente:</a:t>
            </a:r>
          </a:p>
          <a:p>
            <a:pPr lvl="2">
              <a:spcBef>
                <a:spcPts val="600"/>
              </a:spcBef>
            </a:pPr>
            <a:r>
              <a:rPr lang="pt-PT" sz="3000" b="1" dirty="0"/>
              <a:t>Coesão</a:t>
            </a:r>
          </a:p>
          <a:p>
            <a:pPr lvl="2">
              <a:spcBef>
                <a:spcPts val="600"/>
              </a:spcBef>
            </a:pPr>
            <a:r>
              <a:rPr lang="pt-PT" sz="3000" b="1" dirty="0"/>
              <a:t>Acoplamento</a:t>
            </a:r>
          </a:p>
          <a:p>
            <a:pPr lvl="2">
              <a:spcBef>
                <a:spcPts val="600"/>
              </a:spcBef>
            </a:pPr>
            <a:r>
              <a:rPr lang="pt-PT" sz="3000" b="1" dirty="0"/>
              <a:t>Desenho Orientado por responsabilidades</a:t>
            </a:r>
            <a:endParaRPr lang="pt-PT" sz="3000" dirty="0"/>
          </a:p>
          <a:p>
            <a:pPr marL="33337" indent="0">
              <a:buNone/>
            </a:pPr>
            <a:endParaRPr lang="pt-PT" sz="2400" dirty="0"/>
          </a:p>
        </p:txBody>
      </p:sp>
    </p:spTree>
    <p:extLst>
      <p:ext uri="{BB962C8B-B14F-4D97-AF65-F5344CB8AC3E}">
        <p14:creationId xmlns:p14="http://schemas.microsoft.com/office/powerpoint/2010/main" val="3291153186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Desenho da interface das classes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21</a:t>
            </a:fld>
            <a:endParaRPr lang="pt-PT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157628" y="1077476"/>
            <a:ext cx="8878868" cy="5303852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pt-PT" sz="3500" b="1" dirty="0">
                <a:solidFill>
                  <a:srgbClr val="FF0000"/>
                </a:solidFill>
              </a:rPr>
              <a:t>Desenho da interface das classes</a:t>
            </a:r>
          </a:p>
          <a:p>
            <a:pPr lvl="1">
              <a:lnSpc>
                <a:spcPts val="2500"/>
              </a:lnSpc>
              <a:spcBef>
                <a:spcPts val="800"/>
              </a:spcBef>
            </a:pPr>
            <a:r>
              <a:rPr lang="pt-PT" sz="2500" b="1" dirty="0">
                <a:solidFill>
                  <a:srgbClr val="FF0000"/>
                </a:solidFill>
              </a:rPr>
              <a:t>Depois de encontrar as classes</a:t>
            </a:r>
            <a:r>
              <a:rPr lang="pt-PT" sz="2500" dirty="0"/>
              <a:t>, responsabilidades e colaboradores é ainda necessário traduzir as descrições informais para chamada de </a:t>
            </a:r>
            <a:r>
              <a:rPr lang="pt-PT" sz="2500" b="1" dirty="0">
                <a:solidFill>
                  <a:srgbClr val="FF0000"/>
                </a:solidFill>
              </a:rPr>
              <a:t>métodos e parâmetros</a:t>
            </a:r>
            <a:r>
              <a:rPr lang="pt-PT" sz="2500" dirty="0"/>
              <a:t> dos mesmos.</a:t>
            </a:r>
          </a:p>
          <a:p>
            <a:pPr lvl="2">
              <a:lnSpc>
                <a:spcPts val="2500"/>
              </a:lnSpc>
              <a:spcBef>
                <a:spcPts val="800"/>
              </a:spcBef>
            </a:pPr>
            <a:r>
              <a:rPr lang="pt-PT" sz="2500" dirty="0"/>
              <a:t>Repetir a análise de cenários tendo em conta agora as chamadas de métodos, passagem de parâmetros e valores de retorno.</a:t>
            </a:r>
          </a:p>
          <a:p>
            <a:pPr lvl="2">
              <a:lnSpc>
                <a:spcPts val="2500"/>
              </a:lnSpc>
              <a:spcBef>
                <a:spcPts val="800"/>
              </a:spcBef>
            </a:pPr>
            <a:r>
              <a:rPr lang="pt-PT" sz="2500" dirty="0"/>
              <a:t>Anotar as assinaturas dos métodos obtidas.</a:t>
            </a:r>
          </a:p>
          <a:p>
            <a:pPr lvl="1">
              <a:lnSpc>
                <a:spcPts val="2500"/>
              </a:lnSpc>
              <a:spcBef>
                <a:spcPts val="800"/>
              </a:spcBef>
            </a:pPr>
            <a:r>
              <a:rPr lang="pt-PT" sz="2500" dirty="0"/>
              <a:t>Criar a </a:t>
            </a:r>
            <a:r>
              <a:rPr lang="pt-PT" sz="2500" b="1" dirty="0">
                <a:solidFill>
                  <a:srgbClr val="FF0000"/>
                </a:solidFill>
              </a:rPr>
              <a:t>estrutura das classes com os métodos públicos </a:t>
            </a:r>
            <a:r>
              <a:rPr lang="pt-PT" sz="2500" dirty="0"/>
              <a:t>ainda sem o código interno.</a:t>
            </a:r>
          </a:p>
          <a:p>
            <a:pPr lvl="1">
              <a:lnSpc>
                <a:spcPts val="2500"/>
              </a:lnSpc>
              <a:spcBef>
                <a:spcPts val="800"/>
              </a:spcBef>
            </a:pPr>
            <a:r>
              <a:rPr lang="pt-PT" sz="2500" dirty="0"/>
              <a:t>Um desenho cuidadoso é a chave do sucesso da implementação.</a:t>
            </a:r>
          </a:p>
        </p:txBody>
      </p:sp>
    </p:spTree>
    <p:extLst>
      <p:ext uri="{BB962C8B-B14F-4D97-AF65-F5344CB8AC3E}">
        <p14:creationId xmlns:p14="http://schemas.microsoft.com/office/powerpoint/2010/main" val="363367333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Documentação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22</a:t>
            </a:fld>
            <a:endParaRPr lang="pt-PT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390583" y="908720"/>
            <a:ext cx="8662844" cy="5303852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pt-PT" sz="3500" b="1" dirty="0">
                <a:solidFill>
                  <a:srgbClr val="FF0000"/>
                </a:solidFill>
              </a:rPr>
              <a:t>Documentação</a:t>
            </a:r>
          </a:p>
          <a:p>
            <a:pPr lvl="1">
              <a:spcBef>
                <a:spcPts val="600"/>
              </a:spcBef>
            </a:pPr>
            <a:r>
              <a:rPr lang="pt-PT" sz="3000" dirty="0"/>
              <a:t>Escrever os comentários das classes </a:t>
            </a:r>
          </a:p>
          <a:p>
            <a:pPr lvl="2">
              <a:spcBef>
                <a:spcPts val="600"/>
              </a:spcBef>
            </a:pPr>
            <a:r>
              <a:rPr lang="pt-PT" sz="2900" dirty="0"/>
              <a:t>O que são, para que servem?</a:t>
            </a:r>
          </a:p>
          <a:p>
            <a:pPr lvl="1">
              <a:spcBef>
                <a:spcPts val="600"/>
              </a:spcBef>
            </a:pPr>
            <a:r>
              <a:rPr lang="pt-PT" sz="3000" dirty="0"/>
              <a:t>Escrever os comentários dos métodos.</a:t>
            </a:r>
          </a:p>
          <a:p>
            <a:pPr lvl="2">
              <a:spcBef>
                <a:spcPts val="600"/>
              </a:spcBef>
            </a:pPr>
            <a:r>
              <a:rPr lang="pt-PT" sz="2900" dirty="0"/>
              <a:t>O que fazem e para que servem? </a:t>
            </a:r>
          </a:p>
          <a:p>
            <a:pPr lvl="3">
              <a:spcBef>
                <a:spcPts val="600"/>
              </a:spcBef>
            </a:pPr>
            <a:r>
              <a:rPr lang="pt-PT" sz="2600" dirty="0"/>
              <a:t>E Não como fazem!.</a:t>
            </a:r>
          </a:p>
          <a:p>
            <a:pPr lvl="1">
              <a:spcBef>
                <a:spcPts val="600"/>
              </a:spcBef>
            </a:pPr>
            <a:r>
              <a:rPr lang="pt-PT" sz="3000" dirty="0"/>
              <a:t>A documentação nesta altura assegura que:</a:t>
            </a:r>
          </a:p>
          <a:p>
            <a:pPr lvl="2">
              <a:spcBef>
                <a:spcPts val="600"/>
              </a:spcBef>
            </a:pPr>
            <a:r>
              <a:rPr lang="pt-PT" sz="3000" dirty="0"/>
              <a:t>O foco é </a:t>
            </a:r>
            <a:r>
              <a:rPr lang="pt-PT" sz="3000" b="1" dirty="0">
                <a:solidFill>
                  <a:srgbClr val="00B050"/>
                </a:solidFill>
              </a:rPr>
              <a:t>no que faz</a:t>
            </a:r>
            <a:r>
              <a:rPr lang="pt-PT" sz="3000" b="1" dirty="0"/>
              <a:t> </a:t>
            </a:r>
            <a:r>
              <a:rPr lang="pt-PT" sz="3000" dirty="0"/>
              <a:t>e não em </a:t>
            </a:r>
            <a:r>
              <a:rPr lang="pt-PT" sz="3000" b="1" dirty="0">
                <a:solidFill>
                  <a:srgbClr val="FF0000"/>
                </a:solidFill>
              </a:rPr>
              <a:t>como se faz</a:t>
            </a:r>
            <a:r>
              <a:rPr lang="pt-PT" sz="3000" b="1" dirty="0"/>
              <a:t>.</a:t>
            </a:r>
          </a:p>
          <a:p>
            <a:pPr lvl="2">
              <a:spcBef>
                <a:spcPts val="600"/>
              </a:spcBef>
            </a:pPr>
            <a:r>
              <a:rPr lang="pt-PT" sz="3000" dirty="0"/>
              <a:t>E que isso não é esquecido.</a:t>
            </a:r>
          </a:p>
        </p:txBody>
      </p:sp>
    </p:spTree>
    <p:extLst>
      <p:ext uri="{BB962C8B-B14F-4D97-AF65-F5344CB8AC3E}">
        <p14:creationId xmlns:p14="http://schemas.microsoft.com/office/powerpoint/2010/main" val="966770538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Cooperação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23</a:t>
            </a:fld>
            <a:endParaRPr lang="pt-PT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13612" y="861452"/>
            <a:ext cx="9130388" cy="5303852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pt-PT" sz="3500" b="1" dirty="0">
                <a:solidFill>
                  <a:srgbClr val="FF0000"/>
                </a:solidFill>
              </a:rPr>
              <a:t>Trabalho de equipa</a:t>
            </a:r>
          </a:p>
          <a:p>
            <a:pPr lvl="1">
              <a:spcBef>
                <a:spcPts val="600"/>
              </a:spcBef>
            </a:pPr>
            <a:r>
              <a:rPr lang="pt-PT" sz="3000" dirty="0"/>
              <a:t>O trabalho de equipa irá provavelmente ser a regra e não a exceção.</a:t>
            </a:r>
          </a:p>
          <a:p>
            <a:pPr lvl="1">
              <a:spcBef>
                <a:spcPts val="600"/>
              </a:spcBef>
            </a:pPr>
            <a:r>
              <a:rPr lang="pt-PT" sz="3000" dirty="0"/>
              <a:t>A documentação é essencial para o trabalho de equipa.</a:t>
            </a:r>
          </a:p>
          <a:p>
            <a:pPr lvl="1">
              <a:spcBef>
                <a:spcPts val="600"/>
              </a:spcBef>
            </a:pPr>
            <a:r>
              <a:rPr lang="pt-PT" sz="3000" dirty="0"/>
              <a:t>Um desenho orientado por objetos claro com componentes fracamente acoplados suporta igualmente a cooperação.</a:t>
            </a:r>
          </a:p>
        </p:txBody>
      </p:sp>
    </p:spTree>
    <p:extLst>
      <p:ext uri="{BB962C8B-B14F-4D97-AF65-F5344CB8AC3E}">
        <p14:creationId xmlns:p14="http://schemas.microsoft.com/office/powerpoint/2010/main" val="1866857721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24</a:t>
            </a:fld>
            <a:endParaRPr lang="pt-PT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251520" y="861452"/>
            <a:ext cx="8712968" cy="559188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pt-PT" sz="3500" b="1" dirty="0">
                <a:solidFill>
                  <a:srgbClr val="FF0000"/>
                </a:solidFill>
              </a:rPr>
              <a:t>Prototipagem</a:t>
            </a:r>
          </a:p>
          <a:p>
            <a:pPr lvl="1">
              <a:spcBef>
                <a:spcPts val="600"/>
              </a:spcBef>
            </a:pPr>
            <a:r>
              <a:rPr lang="pt-PT" sz="2500" dirty="0"/>
              <a:t>Devem-se construir protótipos da aplicação. </a:t>
            </a:r>
          </a:p>
          <a:p>
            <a:pPr lvl="2">
              <a:spcBef>
                <a:spcPts val="600"/>
              </a:spcBef>
            </a:pPr>
            <a:r>
              <a:rPr lang="pt-PT" sz="2500" dirty="0"/>
              <a:t>Os protótipos são versões da aplicação onde uma parte é simulada para experimentar outras partes.</a:t>
            </a:r>
          </a:p>
          <a:p>
            <a:pPr lvl="1">
              <a:spcBef>
                <a:spcPts val="600"/>
              </a:spcBef>
            </a:pPr>
            <a:r>
              <a:rPr lang="pt-PT" sz="2500" dirty="0"/>
              <a:t>Os protótipos ajudam no inicio do desenho do sistema.</a:t>
            </a:r>
          </a:p>
          <a:p>
            <a:pPr lvl="2">
              <a:spcBef>
                <a:spcPts val="600"/>
              </a:spcBef>
            </a:pPr>
            <a:r>
              <a:rPr lang="pt-PT" sz="2500" dirty="0"/>
              <a:t>Permitem uma descrição inicial do problema.</a:t>
            </a:r>
          </a:p>
          <a:p>
            <a:pPr lvl="1">
              <a:spcBef>
                <a:spcPts val="600"/>
              </a:spcBef>
            </a:pPr>
            <a:r>
              <a:rPr lang="pt-PT" sz="2500" dirty="0"/>
              <a:t>Os componentes ainda incompletos podem ser simulados.</a:t>
            </a:r>
          </a:p>
          <a:p>
            <a:pPr lvl="2">
              <a:spcBef>
                <a:spcPts val="600"/>
              </a:spcBef>
            </a:pPr>
            <a:r>
              <a:rPr lang="pt-PT" sz="2500" dirty="0"/>
              <a:t>Por exemplo retornando valores fixos.</a:t>
            </a:r>
          </a:p>
          <a:p>
            <a:pPr lvl="2">
              <a:spcBef>
                <a:spcPts val="600"/>
              </a:spcBef>
            </a:pPr>
            <a:r>
              <a:rPr lang="pt-PT" sz="2500" dirty="0"/>
              <a:t>São de evitar comportamentos aleatórios que são difíceis de prever.</a:t>
            </a:r>
          </a:p>
        </p:txBody>
      </p:sp>
    </p:spTree>
    <p:extLst>
      <p:ext uri="{BB962C8B-B14F-4D97-AF65-F5344CB8AC3E}">
        <p14:creationId xmlns:p14="http://schemas.microsoft.com/office/powerpoint/2010/main" val="257790958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Desenvolvimento de software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25</a:t>
            </a:fld>
            <a:endParaRPr lang="pt-PT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323528" y="1005468"/>
            <a:ext cx="8568952" cy="537586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pt-PT" sz="3500" dirty="0"/>
              <a:t>O modelo </a:t>
            </a:r>
            <a:r>
              <a:rPr lang="pt-PT" sz="3500" b="1" dirty="0" err="1">
                <a:solidFill>
                  <a:srgbClr val="FF0000"/>
                </a:solidFill>
              </a:rPr>
              <a:t>Waterfall</a:t>
            </a:r>
            <a:endParaRPr lang="pt-PT" sz="3500" b="1" dirty="0">
              <a:solidFill>
                <a:srgbClr val="FF0000"/>
              </a:solidFill>
            </a:endParaRPr>
          </a:p>
          <a:p>
            <a:pPr lvl="1">
              <a:spcBef>
                <a:spcPts val="600"/>
              </a:spcBef>
            </a:pPr>
            <a:r>
              <a:rPr lang="pt-PT" sz="2400" b="1" dirty="0"/>
              <a:t>Análise</a:t>
            </a:r>
          </a:p>
          <a:p>
            <a:pPr lvl="1">
              <a:spcBef>
                <a:spcPts val="600"/>
              </a:spcBef>
            </a:pPr>
            <a:r>
              <a:rPr lang="pt-PT" sz="2400" b="1" dirty="0"/>
              <a:t>Design</a:t>
            </a:r>
          </a:p>
          <a:p>
            <a:pPr lvl="1">
              <a:spcBef>
                <a:spcPts val="600"/>
              </a:spcBef>
            </a:pPr>
            <a:r>
              <a:rPr lang="pt-PT" sz="2400" b="1" dirty="0"/>
              <a:t>Implementação</a:t>
            </a:r>
          </a:p>
          <a:p>
            <a:pPr lvl="1">
              <a:spcBef>
                <a:spcPts val="600"/>
              </a:spcBef>
            </a:pPr>
            <a:r>
              <a:rPr lang="pt-PT" sz="2400" b="1" dirty="0"/>
              <a:t>Testes</a:t>
            </a:r>
            <a:r>
              <a:rPr lang="pt-PT" sz="2400" dirty="0"/>
              <a:t>                       unitários e de integração</a:t>
            </a:r>
          </a:p>
          <a:p>
            <a:pPr lvl="1">
              <a:spcBef>
                <a:spcPts val="600"/>
              </a:spcBef>
            </a:pPr>
            <a:r>
              <a:rPr lang="pt-PT" sz="2400" b="1" dirty="0"/>
              <a:t>Instalação</a:t>
            </a:r>
          </a:p>
          <a:p>
            <a:pPr>
              <a:spcBef>
                <a:spcPts val="600"/>
              </a:spcBef>
            </a:pPr>
            <a:r>
              <a:rPr lang="pt-PT" sz="2400" dirty="0"/>
              <a:t>É o modelo de desenvolvimento mais conhecido e tradicional.</a:t>
            </a:r>
          </a:p>
          <a:p>
            <a:pPr lvl="1">
              <a:spcBef>
                <a:spcPts val="600"/>
              </a:spcBef>
            </a:pPr>
            <a:r>
              <a:rPr lang="pt-PT" dirty="0"/>
              <a:t>Não é o mais usado. </a:t>
            </a:r>
          </a:p>
          <a:p>
            <a:pPr lvl="1">
              <a:spcBef>
                <a:spcPts val="600"/>
              </a:spcBef>
            </a:pPr>
            <a:r>
              <a:rPr lang="pt-PT" dirty="0"/>
              <a:t>Parte do princípio que os programadores conhecem à partida todas as funcionalidades em detalhe e que o sistema não será alterado depois de entregue.</a:t>
            </a:r>
            <a:endParaRPr lang="pt-PT" sz="2400" dirty="0"/>
          </a:p>
        </p:txBody>
      </p:sp>
      <p:sp>
        <p:nvSpPr>
          <p:cNvPr id="8" name="Arrow: Curved Left 7">
            <a:extLst>
              <a:ext uri="{FF2B5EF4-FFF2-40B4-BE49-F238E27FC236}">
                <a16:creationId xmlns:a16="http://schemas.microsoft.com/office/drawing/2014/main" id="{1DB99F05-2433-49EA-A7B2-F78E46FC73C4}"/>
              </a:ext>
            </a:extLst>
          </p:cNvPr>
          <p:cNvSpPr/>
          <p:nvPr/>
        </p:nvSpPr>
        <p:spPr>
          <a:xfrm>
            <a:off x="3330833" y="1998605"/>
            <a:ext cx="432048" cy="50405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9" name="Arrow: Curved Left 8">
            <a:extLst>
              <a:ext uri="{FF2B5EF4-FFF2-40B4-BE49-F238E27FC236}">
                <a16:creationId xmlns:a16="http://schemas.microsoft.com/office/drawing/2014/main" id="{AC2AF6F9-E171-4A97-A23C-85BF354BA596}"/>
              </a:ext>
            </a:extLst>
          </p:cNvPr>
          <p:cNvSpPr/>
          <p:nvPr/>
        </p:nvSpPr>
        <p:spPr>
          <a:xfrm>
            <a:off x="3347864" y="2564904"/>
            <a:ext cx="432048" cy="50405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10" name="Arrow: Curved Left 9">
            <a:extLst>
              <a:ext uri="{FF2B5EF4-FFF2-40B4-BE49-F238E27FC236}">
                <a16:creationId xmlns:a16="http://schemas.microsoft.com/office/drawing/2014/main" id="{E67C79D0-CA53-4A61-8897-EE1574E34105}"/>
              </a:ext>
            </a:extLst>
          </p:cNvPr>
          <p:cNvSpPr/>
          <p:nvPr/>
        </p:nvSpPr>
        <p:spPr>
          <a:xfrm>
            <a:off x="3347864" y="3132206"/>
            <a:ext cx="432048" cy="50405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11" name="Arrow: Curved Left 10">
            <a:extLst>
              <a:ext uri="{FF2B5EF4-FFF2-40B4-BE49-F238E27FC236}">
                <a16:creationId xmlns:a16="http://schemas.microsoft.com/office/drawing/2014/main" id="{5B0ACBF1-CA68-4ECC-A2E6-29DDE2D0AD0A}"/>
              </a:ext>
            </a:extLst>
          </p:cNvPr>
          <p:cNvSpPr/>
          <p:nvPr/>
        </p:nvSpPr>
        <p:spPr>
          <a:xfrm>
            <a:off x="3347864" y="3676173"/>
            <a:ext cx="432048" cy="50405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28969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Desenvolvimento de software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8AF957-3FA1-48FD-B490-C8C5D18959DA}" type="datetime1">
              <a:rPr lang="pt-PT" smtClean="0"/>
              <a:pPr>
                <a:defRPr/>
              </a:pPr>
              <a:t>24/04/2020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 dirty="0"/>
              <a:t>Prof. José Cordeiro – Prof. José Braz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4CC6F0-0173-4383-A0B3-B4CADBC57DBB}" type="slidenum">
              <a:rPr lang="pt-PT" smtClean="0"/>
              <a:pPr>
                <a:defRPr/>
              </a:pPr>
              <a:t>26</a:t>
            </a:fld>
            <a:endParaRPr lang="pt-PT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312586" y="836712"/>
            <a:ext cx="8518828" cy="5472608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pt-PT" sz="3500" dirty="0"/>
              <a:t>O modelo </a:t>
            </a:r>
            <a:r>
              <a:rPr lang="pt-PT" sz="3500" b="1" dirty="0">
                <a:solidFill>
                  <a:srgbClr val="FF0000"/>
                </a:solidFill>
              </a:rPr>
              <a:t>Iterativo</a:t>
            </a:r>
          </a:p>
          <a:p>
            <a:pPr lvl="1">
              <a:spcBef>
                <a:spcPts val="600"/>
              </a:spcBef>
            </a:pPr>
            <a:r>
              <a:rPr lang="pt-PT" dirty="0"/>
              <a:t>Baseia-se em prototipagem, interações com o cliente e pequenos ciclos de desenvolvimento iterativos e incrementais  </a:t>
            </a:r>
          </a:p>
          <a:p>
            <a:pPr lvl="1">
              <a:spcBef>
                <a:spcPts val="600"/>
              </a:spcBef>
            </a:pPr>
            <a:r>
              <a:rPr lang="pt-PT" b="1" dirty="0"/>
              <a:t>Iterações com:</a:t>
            </a:r>
          </a:p>
          <a:p>
            <a:pPr marL="909637" lvl="2" indent="0" algn="ctr">
              <a:spcBef>
                <a:spcPts val="600"/>
              </a:spcBef>
              <a:buNone/>
            </a:pPr>
            <a:r>
              <a:rPr lang="pt-PT" b="1" dirty="0"/>
              <a:t>Análise</a:t>
            </a:r>
          </a:p>
          <a:p>
            <a:pPr marL="909637" lvl="2" indent="0" algn="ctr">
              <a:spcBef>
                <a:spcPts val="600"/>
              </a:spcBef>
              <a:buNone/>
            </a:pPr>
            <a:r>
              <a:rPr lang="pt-PT" b="1" dirty="0"/>
              <a:t>Design</a:t>
            </a:r>
          </a:p>
          <a:p>
            <a:pPr marL="909637" lvl="2" indent="0" algn="ctr">
              <a:spcBef>
                <a:spcPts val="600"/>
              </a:spcBef>
              <a:buNone/>
            </a:pPr>
            <a:r>
              <a:rPr lang="pt-PT" b="1" dirty="0"/>
              <a:t>Protótipo</a:t>
            </a:r>
          </a:p>
          <a:p>
            <a:pPr marL="909637" lvl="2" indent="0" algn="ctr">
              <a:spcBef>
                <a:spcPts val="600"/>
              </a:spcBef>
              <a:buNone/>
            </a:pPr>
            <a:r>
              <a:rPr lang="pt-PT" b="1" dirty="0"/>
              <a:t>Feedback do cliente</a:t>
            </a:r>
          </a:p>
          <a:p>
            <a:pPr>
              <a:spcBef>
                <a:spcPts val="600"/>
              </a:spcBef>
            </a:pPr>
            <a:r>
              <a:rPr lang="pt-PT" sz="2400" dirty="0"/>
              <a:t>É, talvez, o modelo de desenvolvimento mais comum atualmente.</a:t>
            </a:r>
          </a:p>
          <a:p>
            <a:pPr lvl="1">
              <a:spcBef>
                <a:spcPts val="600"/>
              </a:spcBef>
            </a:pPr>
            <a:r>
              <a:rPr lang="pt-PT" dirty="0"/>
              <a:t>É um modelo mais realístico.</a:t>
            </a:r>
          </a:p>
          <a:p>
            <a:pPr lvl="1">
              <a:spcBef>
                <a:spcPts val="600"/>
              </a:spcBef>
            </a:pPr>
            <a:r>
              <a:rPr lang="pt-PT" dirty="0"/>
              <a:t>O software vai </a:t>
            </a:r>
            <a:r>
              <a:rPr lang="pt-PT" i="1" dirty="0"/>
              <a:t>crescendo</a:t>
            </a:r>
            <a:r>
              <a:rPr lang="pt-PT" dirty="0"/>
              <a:t> em vez de ser desenhado inicialmente na sua totalidade.</a:t>
            </a:r>
          </a:p>
        </p:txBody>
      </p:sp>
      <p:sp>
        <p:nvSpPr>
          <p:cNvPr id="8" name="Arrow: Curved Left 7">
            <a:extLst>
              <a:ext uri="{FF2B5EF4-FFF2-40B4-BE49-F238E27FC236}">
                <a16:creationId xmlns:a16="http://schemas.microsoft.com/office/drawing/2014/main" id="{D6B2BA9C-4A73-402D-810B-74D6B3E0332D}"/>
              </a:ext>
            </a:extLst>
          </p:cNvPr>
          <p:cNvSpPr/>
          <p:nvPr/>
        </p:nvSpPr>
        <p:spPr>
          <a:xfrm>
            <a:off x="5580112" y="2945033"/>
            <a:ext cx="432048" cy="50405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9" name="Arrow: Curved Left 8">
            <a:extLst>
              <a:ext uri="{FF2B5EF4-FFF2-40B4-BE49-F238E27FC236}">
                <a16:creationId xmlns:a16="http://schemas.microsoft.com/office/drawing/2014/main" id="{CD34ECED-826F-4CD5-9AA2-5BAA4FEE7AC5}"/>
              </a:ext>
            </a:extLst>
          </p:cNvPr>
          <p:cNvSpPr/>
          <p:nvPr/>
        </p:nvSpPr>
        <p:spPr>
          <a:xfrm>
            <a:off x="5580112" y="3449089"/>
            <a:ext cx="432048" cy="50405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10" name="Arrow: Curved Left 9">
            <a:extLst>
              <a:ext uri="{FF2B5EF4-FFF2-40B4-BE49-F238E27FC236}">
                <a16:creationId xmlns:a16="http://schemas.microsoft.com/office/drawing/2014/main" id="{4812A124-B999-4BAE-A1F1-60036B981151}"/>
              </a:ext>
            </a:extLst>
          </p:cNvPr>
          <p:cNvSpPr/>
          <p:nvPr/>
        </p:nvSpPr>
        <p:spPr>
          <a:xfrm>
            <a:off x="6084168" y="3861048"/>
            <a:ext cx="432048" cy="50405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11" name="Arrow: Curved Left 10">
            <a:extLst>
              <a:ext uri="{FF2B5EF4-FFF2-40B4-BE49-F238E27FC236}">
                <a16:creationId xmlns:a16="http://schemas.microsoft.com/office/drawing/2014/main" id="{6DC9664E-E6C8-42A3-B596-7D070EA801D3}"/>
              </a:ext>
            </a:extLst>
          </p:cNvPr>
          <p:cNvSpPr/>
          <p:nvPr/>
        </p:nvSpPr>
        <p:spPr>
          <a:xfrm flipH="1" flipV="1">
            <a:off x="3552946" y="3861048"/>
            <a:ext cx="432048" cy="50405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12" name="Arrow: Curved Left 11">
            <a:extLst>
              <a:ext uri="{FF2B5EF4-FFF2-40B4-BE49-F238E27FC236}">
                <a16:creationId xmlns:a16="http://schemas.microsoft.com/office/drawing/2014/main" id="{15D05FC6-C8EA-4242-8FE9-9ACFEAC1442D}"/>
              </a:ext>
            </a:extLst>
          </p:cNvPr>
          <p:cNvSpPr/>
          <p:nvPr/>
        </p:nvSpPr>
        <p:spPr>
          <a:xfrm flipH="1" flipV="1">
            <a:off x="4057002" y="3429000"/>
            <a:ext cx="432048" cy="50405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13" name="Arrow: Curved Left 12">
            <a:extLst>
              <a:ext uri="{FF2B5EF4-FFF2-40B4-BE49-F238E27FC236}">
                <a16:creationId xmlns:a16="http://schemas.microsoft.com/office/drawing/2014/main" id="{2DBDEB91-D644-439C-BDFF-B454D01C9015}"/>
              </a:ext>
            </a:extLst>
          </p:cNvPr>
          <p:cNvSpPr/>
          <p:nvPr/>
        </p:nvSpPr>
        <p:spPr>
          <a:xfrm flipH="1" flipV="1">
            <a:off x="4037322" y="2887606"/>
            <a:ext cx="432048" cy="50405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33761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odelo de apresentação predefinido">
  <a:themeElements>
    <a:clrScheme name="Modelo de apresentação predefinido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elo de apresentação predefinido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o de apresentação predefinido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o de apresentação predefinido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o de apresentação predefinido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o de apresentação predefinido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o de apresentação predefinido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o de apresentação predefinido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o de apresentação predefinido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o de apresentação predefinido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27455</TotalTime>
  <Words>1872</Words>
  <Application>Microsoft Office PowerPoint</Application>
  <PresentationFormat>On-screen Show (4:3)</PresentationFormat>
  <Paragraphs>294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Times</vt:lpstr>
      <vt:lpstr>Tw Cen MT</vt:lpstr>
      <vt:lpstr>Tw Cen MT Condensed</vt:lpstr>
      <vt:lpstr>Tw Cen MT Condensed Extra Bold</vt:lpstr>
      <vt:lpstr>Verdana</vt:lpstr>
      <vt:lpstr>Wingdings</vt:lpstr>
      <vt:lpstr>Modelo de apresentação predefinido</vt:lpstr>
      <vt:lpstr>Programação Orientada por Objetos</vt:lpstr>
      <vt:lpstr>Sumário</vt:lpstr>
      <vt:lpstr>Exemplo  – Sistema de reservas</vt:lpstr>
      <vt:lpstr>Exemplo – Sistema de reservas</vt:lpstr>
      <vt:lpstr>Exemplo – Sistema de reservas</vt:lpstr>
      <vt:lpstr>Análise - Método verbo/substantivo</vt:lpstr>
      <vt:lpstr>Exemplo – Sistema de reservas</vt:lpstr>
      <vt:lpstr>Análise - Método verbo/substantivo</vt:lpstr>
      <vt:lpstr>Análise - Método verbo/substantivo</vt:lpstr>
      <vt:lpstr>Análise - Método verbo/substantivo</vt:lpstr>
      <vt:lpstr>Análise - Método verbo/substantivo</vt:lpstr>
      <vt:lpstr>Análise – Cartas CRC</vt:lpstr>
      <vt:lpstr>Análise – Cartas CRC</vt:lpstr>
      <vt:lpstr>Cenários – exemplo prático</vt:lpstr>
      <vt:lpstr>Análise =&gt; Desenho (Cenários)</vt:lpstr>
      <vt:lpstr>Análise =&gt; Desenho (Cenários)</vt:lpstr>
      <vt:lpstr>Casos de Utilização</vt:lpstr>
      <vt:lpstr>Casos de Utilização</vt:lpstr>
      <vt:lpstr>Desenho de classes</vt:lpstr>
      <vt:lpstr>Desenho de classes</vt:lpstr>
      <vt:lpstr>Desenho da interface das classes</vt:lpstr>
      <vt:lpstr>Documentação</vt:lpstr>
      <vt:lpstr>Cooperação</vt:lpstr>
      <vt:lpstr>Protótipos</vt:lpstr>
      <vt:lpstr>Desenvolvimento de software</vt:lpstr>
      <vt:lpstr>Desenvolvimento de software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Aplicações Multimédia</dc:title>
  <dc:creator>José Braz</dc:creator>
  <cp:lastModifiedBy>José</cp:lastModifiedBy>
  <cp:revision>1138</cp:revision>
  <cp:lastPrinted>2015-05-17T21:31:11Z</cp:lastPrinted>
  <dcterms:created xsi:type="dcterms:W3CDTF">2006-06-09T01:44:33Z</dcterms:created>
  <dcterms:modified xsi:type="dcterms:W3CDTF">2020-04-24T12:55:44Z</dcterms:modified>
</cp:coreProperties>
</file>